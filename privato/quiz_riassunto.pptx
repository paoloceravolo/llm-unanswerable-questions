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9" r:id="rId2"/>
    <p:sldId id="290" r:id="rId3"/>
    <p:sldId id="291" r:id="rId4"/>
    <p:sldId id="292" r:id="rId5"/>
    <p:sldId id="293" r:id="rId6"/>
    <p:sldId id="294" r:id="rId7"/>
    <p:sldId id="295" r:id="rId8"/>
    <p:sldId id="299" r:id="rId9"/>
    <p:sldId id="297" r:id="rId10"/>
    <p:sldId id="298" r:id="rId11"/>
    <p:sldId id="301" r:id="rId12"/>
    <p:sldId id="303" r:id="rId13"/>
    <p:sldId id="302" r:id="rId14"/>
    <p:sldId id="307" r:id="rId15"/>
    <p:sldId id="305" r:id="rId16"/>
    <p:sldId id="306" r:id="rId17"/>
    <p:sldId id="289" r:id="rId18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CE5F8"/>
    <a:srgbClr val="4D1252"/>
    <a:srgbClr val="D58BEA"/>
    <a:srgbClr val="99AEEB"/>
    <a:srgbClr val="A4E7EC"/>
    <a:srgbClr val="CDEEB2"/>
    <a:srgbClr val="ECE89C"/>
    <a:srgbClr val="67E85B"/>
    <a:srgbClr val="A7ECD4"/>
    <a:srgbClr val="52CD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491"/>
    <p:restoredTop sz="94681"/>
  </p:normalViewPr>
  <p:slideViewPr>
    <p:cSldViewPr snapToGrid="0">
      <p:cViewPr varScale="1">
        <p:scale>
          <a:sx n="99" d="100"/>
          <a:sy n="99" d="100"/>
        </p:scale>
        <p:origin x="95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632E9C3-0C81-4FAA-4B90-3C771DB5F6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21E62A29-B673-B801-1B33-C6626CE23A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71B1946-98A3-05A3-9B6E-395875BCD6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C3174-044B-B04A-A308-64051007116B}" type="datetimeFigureOut">
              <a:rPr lang="it-IT" smtClean="0"/>
              <a:t>27/01/26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9E1975A-BC56-08FE-9330-05C06DC071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B6453EA-DC26-C528-9B89-4D502A9C4D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2C1E85-D839-3348-9CCC-AAA7079B9C7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600320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2644C53-4DD6-EC4A-48DF-E9124E92CE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04B6A60-69C6-72CD-59C8-205812A49E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5AED08B-7EC4-E57A-4FDA-2017221FC9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C3174-044B-B04A-A308-64051007116B}" type="datetimeFigureOut">
              <a:rPr lang="it-IT" smtClean="0"/>
              <a:t>27/01/26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A3CDB5F-EF88-35E5-047B-24CE6817A4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CBB577B9-33CD-BB45-9A13-ADDDA40C0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2C1E85-D839-3348-9CCC-AAA7079B9C7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173707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A64D69E-7D97-B489-A38D-BEC8AA2A12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14DF7C40-3A15-BE93-6DE8-5C39E6B11D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BB82C8F-49A5-ECDE-D48E-BA88BE225C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C3174-044B-B04A-A308-64051007116B}" type="datetimeFigureOut">
              <a:rPr lang="it-IT" smtClean="0"/>
              <a:t>27/01/26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25416F0-2080-FD43-2F82-B2E9142E31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974E064-5166-ACEA-E4CE-2CEB16E30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2C1E85-D839-3348-9CCC-AAA7079B9C7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89670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038CAB5-08FB-DD8A-0C56-3FEC4AC2C6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A9B0AD4-738E-C8BE-642D-C7D1B209D4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A7E5812F-02DD-CFBD-1523-306701EDD3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4E0D5547-1971-346C-D284-91ED61F21E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C3174-044B-B04A-A308-64051007116B}" type="datetimeFigureOut">
              <a:rPr lang="it-IT" smtClean="0"/>
              <a:t>27/01/26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6A2C747E-3A6B-50D6-1D8A-1624FF01A4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B5DE6FA1-85D4-B41C-BF42-2BBEFA161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2C1E85-D839-3348-9CCC-AAA7079B9C7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606622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343048A-805A-138B-3031-9E7FC41F47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FA6D1CB4-1DE2-1AEA-DCFD-2B399B4269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30219833-9FD8-EE32-6741-2353D264C7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FCC9C634-5494-4E4E-1EB0-99CA1F41E4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572F2F1A-DF0B-33E5-37C4-BA0F1D3361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1E80A490-C096-D90F-F4EA-2421B9E3E8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C3174-044B-B04A-A308-64051007116B}" type="datetimeFigureOut">
              <a:rPr lang="it-IT" smtClean="0"/>
              <a:t>27/01/26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5F68A41B-E578-6E64-297E-920E4B06A8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56FB7D7C-D6BC-4644-AB1B-AC3377F977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2C1E85-D839-3348-9CCC-AAA7079B9C7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482026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07701C7-EF32-3006-A417-0366B5A303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1A9F34E1-FB40-69AD-2C61-F95A739165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C3174-044B-B04A-A308-64051007116B}" type="datetimeFigureOut">
              <a:rPr lang="it-IT" smtClean="0"/>
              <a:t>27/01/26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0C07D21A-8A18-3236-294A-CDCCD56F0D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372CCC10-3856-BF4F-DC09-FD437B2498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2C1E85-D839-3348-9CCC-AAA7079B9C7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22812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AC3B32D8-A1F2-94B7-6191-3537BFEC2F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C3174-044B-B04A-A308-64051007116B}" type="datetimeFigureOut">
              <a:rPr lang="it-IT" smtClean="0"/>
              <a:t>27/01/26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BFC88744-65F6-8F5D-AFB2-327AC43DE5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5D9A97F3-E519-5D40-E603-B3111E86B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2C1E85-D839-3348-9CCC-AAA7079B9C7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812769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90A3828-9DE0-9F1B-D4BE-0C3AE532D8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C614A29-DF1A-5A13-6CF7-D502C6F4D0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21EE792F-4BC4-B8F2-57F5-D68576F52C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68C21F1E-9E83-E338-99FF-4125591DE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C3174-044B-B04A-A308-64051007116B}" type="datetimeFigureOut">
              <a:rPr lang="it-IT" smtClean="0"/>
              <a:t>27/01/26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537AEF2A-B543-E478-04B5-E024C1705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2A32235E-7B62-ECE3-C923-08683B0589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2C1E85-D839-3348-9CCC-AAA7079B9C7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667082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4EAE0DD-77C9-25B7-DE05-0D9EC2CEBD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517298E6-8BD6-EFB5-4B69-F82BDDF157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DC2EADE8-218D-F814-4076-D81EBD89E6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6EA4A7D4-EF54-3B70-F72B-F94226071B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C3174-044B-B04A-A308-64051007116B}" type="datetimeFigureOut">
              <a:rPr lang="it-IT" smtClean="0"/>
              <a:t>27/01/26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946AE3CA-51E7-F8BC-4D27-960990E8DE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BC9F630D-0C07-2C5D-0C29-2854D9B72B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2C1E85-D839-3348-9CCC-AAA7079B9C7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30576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2EA96DB-253D-AABF-43AB-4192ECD4C6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4037A635-C506-6FBC-B8D5-D203C8E01E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7DA8D3E8-0229-211A-F3A7-B95790E228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C3174-044B-B04A-A308-64051007116B}" type="datetimeFigureOut">
              <a:rPr lang="it-IT" smtClean="0"/>
              <a:t>27/01/26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B8EDADB-49E9-6603-EAE4-96E51DD62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2547740-5574-702C-85B6-0A59E250AB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2C1E85-D839-3348-9CCC-AAA7079B9C7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940541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68E863B9-461C-2C23-04A1-E106050960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E47368F0-8E6B-C581-D65A-06AED02340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AF65738-F1AF-0310-2246-5E17893BE0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C3174-044B-B04A-A308-64051007116B}" type="datetimeFigureOut">
              <a:rPr lang="it-IT" smtClean="0"/>
              <a:t>27/01/26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D9B9913-6EE7-83B9-FF83-501B893ED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5092494-401E-2B41-0514-76C5E5621F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2C1E85-D839-3348-9CCC-AAA7079B9C7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870202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102F1CE1-2C3B-451E-F750-DA322342C7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ADFDED12-F5B5-FE65-565D-0DA9322B82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68A8EDD-713F-7FEE-8C16-7729E16E54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0C3174-044B-B04A-A308-64051007116B}" type="datetimeFigureOut">
              <a:rPr lang="it-IT" smtClean="0"/>
              <a:t>27/01/26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BDF8221-3BC4-86B0-7870-BA4F5A7DC8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761447C7-6AB9-9DF0-79D0-5FA7AF1693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2C1E85-D839-3348-9CCC-AAA7079B9C7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654538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3ADFF3-27E1-EB1D-ED10-4D99D435B1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>
            <a:extLst>
              <a:ext uri="{FF2B5EF4-FFF2-40B4-BE49-F238E27FC236}">
                <a16:creationId xmlns:a16="http://schemas.microsoft.com/office/drawing/2014/main" id="{49E7F739-C4C0-B1D8-38D7-EC9605FF4A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CE5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6600" dirty="0">
                <a:solidFill>
                  <a:srgbClr val="4D1252"/>
                </a:solidFill>
                <a:latin typeface="Cooper Black" panose="0208090404030B020404" pitchFamily="18" charset="77"/>
              </a:rPr>
              <a:t>Sappiamo davvero parlare con l’Intelligenza Artificiale?</a:t>
            </a:r>
          </a:p>
        </p:txBody>
      </p:sp>
    </p:spTree>
    <p:extLst>
      <p:ext uri="{BB962C8B-B14F-4D97-AF65-F5344CB8AC3E}">
        <p14:creationId xmlns:p14="http://schemas.microsoft.com/office/powerpoint/2010/main" val="38358724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32610E-31A7-17D0-F2AC-52FA7140C0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magine 10">
            <a:extLst>
              <a:ext uri="{FF2B5EF4-FFF2-40B4-BE49-F238E27FC236}">
                <a16:creationId xmlns:a16="http://schemas.microsoft.com/office/drawing/2014/main" id="{BDA84F2D-375D-CB45-C9A8-A2B139D8CE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ttangolo 3">
            <a:extLst>
              <a:ext uri="{FF2B5EF4-FFF2-40B4-BE49-F238E27FC236}">
                <a16:creationId xmlns:a16="http://schemas.microsoft.com/office/drawing/2014/main" id="{C16B6FFB-BEC8-8CD8-AD7D-48B9E561B52B}"/>
              </a:ext>
            </a:extLst>
          </p:cNvPr>
          <p:cNvSpPr>
            <a:spLocks/>
          </p:cNvSpPr>
          <p:nvPr/>
        </p:nvSpPr>
        <p:spPr>
          <a:xfrm>
            <a:off x="334851" y="231820"/>
            <a:ext cx="11565228" cy="6349284"/>
          </a:xfrm>
          <a:prstGeom prst="rect">
            <a:avLst/>
          </a:prstGeom>
          <a:solidFill>
            <a:srgbClr val="4D125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B260A5EB-8B63-2A1A-DDB1-4ADAE028B5C3}"/>
              </a:ext>
            </a:extLst>
          </p:cNvPr>
          <p:cNvSpPr/>
          <p:nvPr/>
        </p:nvSpPr>
        <p:spPr>
          <a:xfrm>
            <a:off x="6370747" y="2975019"/>
            <a:ext cx="5230970" cy="325835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800" dirty="0">
                <a:solidFill>
                  <a:schemeClr val="tx1"/>
                </a:solidFill>
              </a:rPr>
              <a:t>Spiegami in che modo il carico di lavoro degli studenti atleti deve essere distribuito settimanalmente per essere considerato ottimale in un contesto scolastico come quello della scuola superiore.</a:t>
            </a: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0C06EA1B-F5A9-4614-1CF6-6160DA6EAFA9}"/>
              </a:ext>
            </a:extLst>
          </p:cNvPr>
          <p:cNvSpPr/>
          <p:nvPr/>
        </p:nvSpPr>
        <p:spPr>
          <a:xfrm>
            <a:off x="590283" y="2975019"/>
            <a:ext cx="5230968" cy="325835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800" dirty="0">
                <a:solidFill>
                  <a:schemeClr val="tx1"/>
                </a:solidFill>
              </a:rPr>
              <a:t>Spiegami in che modo uno studente atleta dovrebbe gestire il carico di lavoro e di sport.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53345A83-30A5-8C50-A008-AE5E63A498C6}"/>
              </a:ext>
            </a:extLst>
          </p:cNvPr>
          <p:cNvSpPr txBox="1"/>
          <p:nvPr/>
        </p:nvSpPr>
        <p:spPr>
          <a:xfrm>
            <a:off x="590282" y="904351"/>
            <a:ext cx="1101143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dirty="0">
                <a:solidFill>
                  <a:schemeClr val="bg1"/>
                </a:solidFill>
              </a:rPr>
              <a:t>Devo fare una ricerca riguardo il ruolo dello studente atleta.</a:t>
            </a:r>
          </a:p>
          <a:p>
            <a:pPr algn="ctr"/>
            <a:r>
              <a:rPr lang="it-IT" sz="2800" dirty="0">
                <a:solidFill>
                  <a:schemeClr val="bg1"/>
                </a:solidFill>
              </a:rPr>
              <a:t> </a:t>
            </a:r>
          </a:p>
          <a:p>
            <a:pPr algn="ctr"/>
            <a:r>
              <a:rPr lang="it-IT" sz="2800" dirty="0">
                <a:solidFill>
                  <a:schemeClr val="bg1"/>
                </a:solidFill>
              </a:rPr>
              <a:t>Qual è la miglior domanda da porre all’IA?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3344CA98-57EA-628F-6355-14C0E61A89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4155" y="7134684"/>
            <a:ext cx="881845" cy="881845"/>
          </a:xfrm>
          <a:prstGeom prst="rect">
            <a:avLst/>
          </a:prstGeom>
        </p:spPr>
      </p:pic>
      <p:pic>
        <p:nvPicPr>
          <p:cNvPr id="6" name="Immagine 5">
            <a:extLst>
              <a:ext uri="{FF2B5EF4-FFF2-40B4-BE49-F238E27FC236}">
                <a16:creationId xmlns:a16="http://schemas.microsoft.com/office/drawing/2014/main" id="{1BC5EC2A-ACD5-CF07-0E0E-020916BF55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41317" y="7133252"/>
            <a:ext cx="883277" cy="883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38153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AB6942-4646-F371-D4E1-8D426AE9C9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magine 11">
            <a:extLst>
              <a:ext uri="{FF2B5EF4-FFF2-40B4-BE49-F238E27FC236}">
                <a16:creationId xmlns:a16="http://schemas.microsoft.com/office/drawing/2014/main" id="{CD029BF0-F8F2-74EB-5153-67051DC020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879"/>
            <a:ext cx="12192000" cy="6858000"/>
          </a:xfrm>
          <a:prstGeom prst="rect">
            <a:avLst/>
          </a:prstGeom>
        </p:spPr>
      </p:pic>
      <p:sp>
        <p:nvSpPr>
          <p:cNvPr id="9" name="Rettangolo 8">
            <a:extLst>
              <a:ext uri="{FF2B5EF4-FFF2-40B4-BE49-F238E27FC236}">
                <a16:creationId xmlns:a16="http://schemas.microsoft.com/office/drawing/2014/main" id="{2996DB5A-53E9-831B-8C19-88172BCBA421}"/>
              </a:ext>
            </a:extLst>
          </p:cNvPr>
          <p:cNvSpPr>
            <a:spLocks/>
          </p:cNvSpPr>
          <p:nvPr/>
        </p:nvSpPr>
        <p:spPr>
          <a:xfrm>
            <a:off x="334851" y="231820"/>
            <a:ext cx="11565228" cy="6349284"/>
          </a:xfrm>
          <a:prstGeom prst="rect">
            <a:avLst/>
          </a:prstGeom>
          <a:solidFill>
            <a:srgbClr val="4D125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DF96525F-613B-CF83-5395-C147F7B6C84E}"/>
              </a:ext>
            </a:extLst>
          </p:cNvPr>
          <p:cNvSpPr/>
          <p:nvPr/>
        </p:nvSpPr>
        <p:spPr>
          <a:xfrm>
            <a:off x="6370747" y="2975019"/>
            <a:ext cx="5230970" cy="325835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800" dirty="0">
                <a:solidFill>
                  <a:schemeClr val="tx1"/>
                </a:solidFill>
              </a:rPr>
              <a:t>Spiegami in che modo il carico di lavoro degli studenti atleti deve essere distribuito settimanalmente per essere considerato ottimale in un contesto scolastico come quello della scuola superiore.</a:t>
            </a: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CF3747C4-CF16-05F4-C82C-A55F6CA90A72}"/>
              </a:ext>
            </a:extLst>
          </p:cNvPr>
          <p:cNvSpPr/>
          <p:nvPr/>
        </p:nvSpPr>
        <p:spPr>
          <a:xfrm>
            <a:off x="590283" y="2975019"/>
            <a:ext cx="5230968" cy="325835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800" dirty="0">
                <a:solidFill>
                  <a:schemeClr val="tx1"/>
                </a:solidFill>
              </a:rPr>
              <a:t>Spiegami in che modo uno studente atleta dovrebbe gestire il carico di lavoro e di sport.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43FFD4A6-0536-A0A0-B43C-AE6815BC1F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0168" y="5596437"/>
            <a:ext cx="881845" cy="881845"/>
          </a:xfrm>
          <a:prstGeom prst="rect">
            <a:avLst/>
          </a:prstGeom>
        </p:spPr>
      </p:pic>
      <p:pic>
        <p:nvPicPr>
          <p:cNvPr id="6" name="Immagine 5">
            <a:extLst>
              <a:ext uri="{FF2B5EF4-FFF2-40B4-BE49-F238E27FC236}">
                <a16:creationId xmlns:a16="http://schemas.microsoft.com/office/drawing/2014/main" id="{34CA8C4F-E09B-C989-99F2-FAA57F95D4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07330" y="5595005"/>
            <a:ext cx="883277" cy="883277"/>
          </a:xfrm>
          <a:prstGeom prst="rect">
            <a:avLst/>
          </a:prstGeom>
        </p:spPr>
      </p:pic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56BF5836-69FB-AC68-7E93-540FD62197AD}"/>
              </a:ext>
            </a:extLst>
          </p:cNvPr>
          <p:cNvSpPr txBox="1"/>
          <p:nvPr/>
        </p:nvSpPr>
        <p:spPr>
          <a:xfrm>
            <a:off x="590282" y="904351"/>
            <a:ext cx="1101143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dirty="0">
                <a:solidFill>
                  <a:schemeClr val="bg1"/>
                </a:solidFill>
              </a:rPr>
              <a:t>Devo fare una ricerca riguardo il ruolo dello studente atleta.</a:t>
            </a:r>
          </a:p>
          <a:p>
            <a:pPr algn="ctr"/>
            <a:r>
              <a:rPr lang="it-IT" sz="2800" dirty="0">
                <a:solidFill>
                  <a:schemeClr val="bg1"/>
                </a:solidFill>
              </a:rPr>
              <a:t> </a:t>
            </a:r>
          </a:p>
          <a:p>
            <a:pPr algn="ctr"/>
            <a:r>
              <a:rPr lang="it-IT" sz="2800" dirty="0">
                <a:solidFill>
                  <a:schemeClr val="bg1"/>
                </a:solidFill>
              </a:rPr>
              <a:t>Qual è la miglior domanda da porre all’IA?</a:t>
            </a:r>
          </a:p>
        </p:txBody>
      </p:sp>
    </p:spTree>
    <p:extLst>
      <p:ext uri="{BB962C8B-B14F-4D97-AF65-F5344CB8AC3E}">
        <p14:creationId xmlns:p14="http://schemas.microsoft.com/office/powerpoint/2010/main" val="6395193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83A7E4-56CA-D6B7-36A4-133FAC08E8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magine 5">
            <a:extLst>
              <a:ext uri="{FF2B5EF4-FFF2-40B4-BE49-F238E27FC236}">
                <a16:creationId xmlns:a16="http://schemas.microsoft.com/office/drawing/2014/main" id="{2BBCB303-1A28-2B64-2E09-CA03150714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879"/>
            <a:ext cx="12192000" cy="6858000"/>
          </a:xfrm>
          <a:prstGeom prst="rect">
            <a:avLst/>
          </a:prstGeom>
        </p:spPr>
      </p:pic>
      <p:sp>
        <p:nvSpPr>
          <p:cNvPr id="5" name="Rettangolo 4">
            <a:extLst>
              <a:ext uri="{FF2B5EF4-FFF2-40B4-BE49-F238E27FC236}">
                <a16:creationId xmlns:a16="http://schemas.microsoft.com/office/drawing/2014/main" id="{CA3A8054-BAE9-3628-8F45-AB7902F2AB7D}"/>
              </a:ext>
            </a:extLst>
          </p:cNvPr>
          <p:cNvSpPr/>
          <p:nvPr/>
        </p:nvSpPr>
        <p:spPr>
          <a:xfrm>
            <a:off x="666399" y="543252"/>
            <a:ext cx="10846675" cy="5754413"/>
          </a:xfrm>
          <a:prstGeom prst="rect">
            <a:avLst/>
          </a:prstGeom>
          <a:solidFill>
            <a:srgbClr val="4D125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Rettangolo 1">
            <a:extLst>
              <a:ext uri="{FF2B5EF4-FFF2-40B4-BE49-F238E27FC236}">
                <a16:creationId xmlns:a16="http://schemas.microsoft.com/office/drawing/2014/main" id="{DB18140B-AEDA-5E68-7D24-171A059CBE69}"/>
              </a:ext>
            </a:extLst>
          </p:cNvPr>
          <p:cNvSpPr>
            <a:spLocks/>
          </p:cNvSpPr>
          <p:nvPr/>
        </p:nvSpPr>
        <p:spPr>
          <a:xfrm>
            <a:off x="297287" y="1888651"/>
            <a:ext cx="11597425" cy="3080698"/>
          </a:xfrm>
          <a:prstGeom prst="rect">
            <a:avLst/>
          </a:prstGeom>
          <a:solidFill>
            <a:srgbClr val="ECE89C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3200" dirty="0">
              <a:solidFill>
                <a:schemeClr val="tx1"/>
              </a:solidFill>
            </a:endParaRP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33B71084-EDAC-7CF6-526A-6C737525C972}"/>
              </a:ext>
            </a:extLst>
          </p:cNvPr>
          <p:cNvSpPr txBox="1"/>
          <p:nvPr/>
        </p:nvSpPr>
        <p:spPr>
          <a:xfrm>
            <a:off x="590282" y="2090172"/>
            <a:ext cx="11011436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dirty="0"/>
              <a:t>Indicare chiaramente: l’</a:t>
            </a:r>
            <a:r>
              <a:rPr lang="it-IT" sz="2800" b="1" dirty="0"/>
              <a:t>obiettivo della richiesta</a:t>
            </a:r>
            <a:r>
              <a:rPr lang="it-IT" sz="2800" dirty="0"/>
              <a:t>, il </a:t>
            </a:r>
            <a:r>
              <a:rPr lang="it-IT" sz="2800" b="1" dirty="0"/>
              <a:t>contesto</a:t>
            </a:r>
            <a:r>
              <a:rPr lang="it-IT" sz="2800" dirty="0"/>
              <a:t> e l’</a:t>
            </a:r>
            <a:r>
              <a:rPr lang="it-IT" sz="2800" b="1" dirty="0"/>
              <a:t>aspetto principale </a:t>
            </a:r>
            <a:r>
              <a:rPr lang="it-IT" sz="2800" dirty="0"/>
              <a:t>su cui concentrarsi. </a:t>
            </a:r>
          </a:p>
          <a:p>
            <a:pPr algn="ctr"/>
            <a:endParaRPr lang="it-IT" sz="2800" dirty="0"/>
          </a:p>
          <a:p>
            <a:pPr algn="ctr"/>
            <a:r>
              <a:rPr lang="it-IT" sz="2800" b="1" dirty="0"/>
              <a:t>Evitare l’over-specificazione </a:t>
            </a:r>
            <a:r>
              <a:rPr lang="it-IT" sz="2800" dirty="0"/>
              <a:t>significa non trasformare il prompt in una lista eccessiva di vincoli, dati e sotto-compiti che limitano la capacità dell’IA di organizzare una risposta efficace o creativa.</a:t>
            </a:r>
          </a:p>
        </p:txBody>
      </p:sp>
    </p:spTree>
    <p:extLst>
      <p:ext uri="{BB962C8B-B14F-4D97-AF65-F5344CB8AC3E}">
        <p14:creationId xmlns:p14="http://schemas.microsoft.com/office/powerpoint/2010/main" val="22963794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06A824-6FD3-C1EB-B956-6A4EFCC117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magine 8">
            <a:extLst>
              <a:ext uri="{FF2B5EF4-FFF2-40B4-BE49-F238E27FC236}">
                <a16:creationId xmlns:a16="http://schemas.microsoft.com/office/drawing/2014/main" id="{FC8E474D-1193-BA47-96F6-A4BF16C9E1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879"/>
            <a:ext cx="12192000" cy="6858000"/>
          </a:xfrm>
          <a:prstGeom prst="rect">
            <a:avLst/>
          </a:prstGeom>
        </p:spPr>
      </p:pic>
      <p:sp>
        <p:nvSpPr>
          <p:cNvPr id="2" name="Rettangolo 1">
            <a:extLst>
              <a:ext uri="{FF2B5EF4-FFF2-40B4-BE49-F238E27FC236}">
                <a16:creationId xmlns:a16="http://schemas.microsoft.com/office/drawing/2014/main" id="{A2030303-CC42-D06E-29F7-C2713625E69A}"/>
              </a:ext>
            </a:extLst>
          </p:cNvPr>
          <p:cNvSpPr>
            <a:spLocks/>
          </p:cNvSpPr>
          <p:nvPr/>
        </p:nvSpPr>
        <p:spPr>
          <a:xfrm>
            <a:off x="334851" y="231820"/>
            <a:ext cx="11565228" cy="6349284"/>
          </a:xfrm>
          <a:prstGeom prst="rect">
            <a:avLst/>
          </a:prstGeom>
          <a:solidFill>
            <a:srgbClr val="4D125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BC65742E-8EDA-3ACC-053E-431FA27B2BEA}"/>
              </a:ext>
            </a:extLst>
          </p:cNvPr>
          <p:cNvSpPr/>
          <p:nvPr/>
        </p:nvSpPr>
        <p:spPr>
          <a:xfrm>
            <a:off x="590282" y="3317796"/>
            <a:ext cx="5230970" cy="262431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800" dirty="0">
                <a:solidFill>
                  <a:schemeClr val="tx1"/>
                </a:solidFill>
              </a:rPr>
              <a:t>Fammi un discorso semplice su Napoleone.</a:t>
            </a: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E2A82E1C-BF88-6B69-3D34-5B3539B08FF4}"/>
              </a:ext>
            </a:extLst>
          </p:cNvPr>
          <p:cNvSpPr/>
          <p:nvPr/>
        </p:nvSpPr>
        <p:spPr>
          <a:xfrm>
            <a:off x="6370750" y="3317796"/>
            <a:ext cx="5230968" cy="262431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800" dirty="0">
                <a:solidFill>
                  <a:schemeClr val="tx1"/>
                </a:solidFill>
              </a:rPr>
              <a:t>Spiegami cosa ha fatto Napoleone, come se fossi uno studente delle medie. 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874D3B80-EB2A-AD04-5FAC-6E5548C68F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88183" y="7073515"/>
            <a:ext cx="881845" cy="881845"/>
          </a:xfrm>
          <a:prstGeom prst="rect">
            <a:avLst/>
          </a:prstGeom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DAAA1731-DAF2-D64E-8643-E0FD667446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2723" y="7170640"/>
            <a:ext cx="883277" cy="883277"/>
          </a:xfrm>
          <a:prstGeom prst="rect">
            <a:avLst/>
          </a:prstGeom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AF47DE47-0625-16C0-9406-5A07D1F2BD28}"/>
              </a:ext>
            </a:extLst>
          </p:cNvPr>
          <p:cNvSpPr txBox="1"/>
          <p:nvPr/>
        </p:nvSpPr>
        <p:spPr>
          <a:xfrm>
            <a:off x="590282" y="862924"/>
            <a:ext cx="1101143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dirty="0">
                <a:solidFill>
                  <a:schemeClr val="bg1"/>
                </a:solidFill>
              </a:rPr>
              <a:t>Devo aiutare mia sorella di seconda media a fare una ricerca su Napoleone.</a:t>
            </a:r>
          </a:p>
          <a:p>
            <a:pPr algn="ctr"/>
            <a:r>
              <a:rPr lang="it-IT" sz="2800" dirty="0">
                <a:solidFill>
                  <a:schemeClr val="bg1"/>
                </a:solidFill>
              </a:rPr>
              <a:t> </a:t>
            </a:r>
          </a:p>
          <a:p>
            <a:pPr algn="ctr"/>
            <a:r>
              <a:rPr lang="it-IT" sz="2800" dirty="0">
                <a:solidFill>
                  <a:schemeClr val="bg1"/>
                </a:solidFill>
              </a:rPr>
              <a:t>Qual è la miglior domanda da porre all’IA?</a:t>
            </a:r>
          </a:p>
        </p:txBody>
      </p:sp>
    </p:spTree>
    <p:extLst>
      <p:ext uri="{BB962C8B-B14F-4D97-AF65-F5344CB8AC3E}">
        <p14:creationId xmlns:p14="http://schemas.microsoft.com/office/powerpoint/2010/main" val="34685697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F9C22C-B79E-3204-8939-F662CDFE87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magine 5">
            <a:extLst>
              <a:ext uri="{FF2B5EF4-FFF2-40B4-BE49-F238E27FC236}">
                <a16:creationId xmlns:a16="http://schemas.microsoft.com/office/drawing/2014/main" id="{64D5A7F2-8596-6C29-A7E1-2AC5B6311B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879"/>
            <a:ext cx="12192000" cy="6858000"/>
          </a:xfrm>
          <a:prstGeom prst="rect">
            <a:avLst/>
          </a:prstGeom>
        </p:spPr>
      </p:pic>
      <p:sp>
        <p:nvSpPr>
          <p:cNvPr id="2" name="Rettangolo 1">
            <a:extLst>
              <a:ext uri="{FF2B5EF4-FFF2-40B4-BE49-F238E27FC236}">
                <a16:creationId xmlns:a16="http://schemas.microsoft.com/office/drawing/2014/main" id="{618B1A21-E18F-C2B8-B81E-C3133BA93514}"/>
              </a:ext>
            </a:extLst>
          </p:cNvPr>
          <p:cNvSpPr>
            <a:spLocks/>
          </p:cNvSpPr>
          <p:nvPr/>
        </p:nvSpPr>
        <p:spPr>
          <a:xfrm>
            <a:off x="334851" y="231820"/>
            <a:ext cx="11565228" cy="6349284"/>
          </a:xfrm>
          <a:prstGeom prst="rect">
            <a:avLst/>
          </a:prstGeom>
          <a:solidFill>
            <a:srgbClr val="4D125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1F429377-2C58-1038-9672-B3B30D0302AD}"/>
              </a:ext>
            </a:extLst>
          </p:cNvPr>
          <p:cNvSpPr/>
          <p:nvPr/>
        </p:nvSpPr>
        <p:spPr>
          <a:xfrm>
            <a:off x="590282" y="3317796"/>
            <a:ext cx="5230970" cy="262431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800" dirty="0">
                <a:solidFill>
                  <a:schemeClr val="tx1"/>
                </a:solidFill>
              </a:rPr>
              <a:t>Fammi un discorso semplice su Napoleone.</a:t>
            </a: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2EC14093-E2A3-BE11-55CB-5ED34E31D0DF}"/>
              </a:ext>
            </a:extLst>
          </p:cNvPr>
          <p:cNvSpPr/>
          <p:nvPr/>
        </p:nvSpPr>
        <p:spPr>
          <a:xfrm>
            <a:off x="6370750" y="3317796"/>
            <a:ext cx="5230968" cy="262431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800" dirty="0">
                <a:solidFill>
                  <a:schemeClr val="tx1"/>
                </a:solidFill>
              </a:rPr>
              <a:t>Spiegami cosa ha fatto Napoleone, come se fossi uno studente delle medie. 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5090D31A-ED73-50F2-1CE8-912AA0FCFC12}"/>
              </a:ext>
            </a:extLst>
          </p:cNvPr>
          <p:cNvSpPr txBox="1"/>
          <p:nvPr/>
        </p:nvSpPr>
        <p:spPr>
          <a:xfrm>
            <a:off x="590282" y="862924"/>
            <a:ext cx="1101143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dirty="0">
                <a:solidFill>
                  <a:schemeClr val="bg1"/>
                </a:solidFill>
              </a:rPr>
              <a:t>Devo aiutare mia sorella di seconda media a fare una ricerca su Napoleone.</a:t>
            </a:r>
          </a:p>
          <a:p>
            <a:pPr algn="ctr"/>
            <a:r>
              <a:rPr lang="it-IT" sz="2800" dirty="0">
                <a:solidFill>
                  <a:schemeClr val="bg1"/>
                </a:solidFill>
              </a:rPr>
              <a:t> </a:t>
            </a:r>
          </a:p>
          <a:p>
            <a:pPr algn="ctr"/>
            <a:r>
              <a:rPr lang="it-IT" sz="2800" dirty="0">
                <a:solidFill>
                  <a:schemeClr val="bg1"/>
                </a:solidFill>
              </a:rPr>
              <a:t>Qual è la miglior domanda da porre all’IA?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43A1B04B-9E4A-AECC-6EDA-57865A65A4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64572" y="5379764"/>
            <a:ext cx="881845" cy="881845"/>
          </a:xfrm>
          <a:prstGeom prst="rect">
            <a:avLst/>
          </a:prstGeom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B42AFF24-5643-C7AB-503D-857F6FBD53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9112" y="5476889"/>
            <a:ext cx="883277" cy="883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36000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8211B3-398B-AC04-56D8-89BC1D0E5E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magine 6">
            <a:extLst>
              <a:ext uri="{FF2B5EF4-FFF2-40B4-BE49-F238E27FC236}">
                <a16:creationId xmlns:a16="http://schemas.microsoft.com/office/drawing/2014/main" id="{7586E1A7-DAC0-2865-4063-A419F00E66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879"/>
            <a:ext cx="12192000" cy="6858000"/>
          </a:xfrm>
          <a:prstGeom prst="rect">
            <a:avLst/>
          </a:prstGeom>
        </p:spPr>
      </p:pic>
      <p:sp>
        <p:nvSpPr>
          <p:cNvPr id="3" name="Rettangolo 2">
            <a:extLst>
              <a:ext uri="{FF2B5EF4-FFF2-40B4-BE49-F238E27FC236}">
                <a16:creationId xmlns:a16="http://schemas.microsoft.com/office/drawing/2014/main" id="{42F37D46-8E2E-A7B8-A512-C662DC168A02}"/>
              </a:ext>
            </a:extLst>
          </p:cNvPr>
          <p:cNvSpPr/>
          <p:nvPr/>
        </p:nvSpPr>
        <p:spPr>
          <a:xfrm>
            <a:off x="666399" y="543252"/>
            <a:ext cx="10846675" cy="5754413"/>
          </a:xfrm>
          <a:prstGeom prst="rect">
            <a:avLst/>
          </a:prstGeom>
          <a:solidFill>
            <a:srgbClr val="4D125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51A4DA92-D68A-E381-8304-C579961CB12D}"/>
              </a:ext>
            </a:extLst>
          </p:cNvPr>
          <p:cNvSpPr>
            <a:spLocks/>
          </p:cNvSpPr>
          <p:nvPr/>
        </p:nvSpPr>
        <p:spPr>
          <a:xfrm>
            <a:off x="297287" y="1888651"/>
            <a:ext cx="11597425" cy="3080698"/>
          </a:xfrm>
          <a:prstGeom prst="rect">
            <a:avLst/>
          </a:prstGeom>
          <a:solidFill>
            <a:srgbClr val="CDEEB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3200" dirty="0">
              <a:solidFill>
                <a:schemeClr val="tx1"/>
              </a:solidFill>
            </a:endParaRP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D76BF808-FDBB-883E-885B-F754938ED258}"/>
              </a:ext>
            </a:extLst>
          </p:cNvPr>
          <p:cNvSpPr txBox="1"/>
          <p:nvPr/>
        </p:nvSpPr>
        <p:spPr>
          <a:xfrm>
            <a:off x="590282" y="2090172"/>
            <a:ext cx="11011436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dirty="0"/>
              <a:t>Senza contesto, l’IA può dare risposte corrette ma generiche, oppure interpretare male la richiesta.</a:t>
            </a:r>
          </a:p>
          <a:p>
            <a:pPr algn="ctr"/>
            <a:endParaRPr lang="it-IT" sz="2800" dirty="0"/>
          </a:p>
          <a:p>
            <a:pPr algn="ctr"/>
            <a:r>
              <a:rPr lang="it-IT" sz="2800" dirty="0"/>
              <a:t>Il contesto può riguardare: l’argomento specifico, il livello di conoscenza dell’utente,  il ruolo o la situazione dell’utente, il pubblico a cui è destinata la risposta o lo scopo della richiesta.</a:t>
            </a:r>
          </a:p>
        </p:txBody>
      </p:sp>
    </p:spTree>
    <p:extLst>
      <p:ext uri="{BB962C8B-B14F-4D97-AF65-F5344CB8AC3E}">
        <p14:creationId xmlns:p14="http://schemas.microsoft.com/office/powerpoint/2010/main" val="20900328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D22F2D-EF65-CD72-8F57-B9ACAE9F74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magine 8">
            <a:extLst>
              <a:ext uri="{FF2B5EF4-FFF2-40B4-BE49-F238E27FC236}">
                <a16:creationId xmlns:a16="http://schemas.microsoft.com/office/drawing/2014/main" id="{99A9647D-FC65-A355-EC71-B2459A2C5F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879"/>
            <a:ext cx="12192000" cy="6858000"/>
          </a:xfrm>
          <a:prstGeom prst="rect">
            <a:avLst/>
          </a:prstGeom>
        </p:spPr>
      </p:pic>
      <p:sp>
        <p:nvSpPr>
          <p:cNvPr id="3" name="Rettangolo 2">
            <a:extLst>
              <a:ext uri="{FF2B5EF4-FFF2-40B4-BE49-F238E27FC236}">
                <a16:creationId xmlns:a16="http://schemas.microsoft.com/office/drawing/2014/main" id="{A62F0CF9-8F8B-7DB7-365A-3523C2612482}"/>
              </a:ext>
            </a:extLst>
          </p:cNvPr>
          <p:cNvSpPr>
            <a:spLocks/>
          </p:cNvSpPr>
          <p:nvPr/>
        </p:nvSpPr>
        <p:spPr>
          <a:xfrm>
            <a:off x="334851" y="231820"/>
            <a:ext cx="11565228" cy="6349284"/>
          </a:xfrm>
          <a:prstGeom prst="rect">
            <a:avLst/>
          </a:prstGeom>
          <a:solidFill>
            <a:srgbClr val="4D125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D0F683CD-03D0-952C-A6CE-C3255233C968}"/>
              </a:ext>
            </a:extLst>
          </p:cNvPr>
          <p:cNvSpPr/>
          <p:nvPr/>
        </p:nvSpPr>
        <p:spPr>
          <a:xfrm>
            <a:off x="6370750" y="3317796"/>
            <a:ext cx="5230970" cy="262431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800" dirty="0">
                <a:solidFill>
                  <a:schemeClr val="tx1"/>
                </a:solidFill>
              </a:rPr>
              <a:t>Costruisci un elenco puntato sulle fasi del metabolismo, con una breve spiegazione per ogni punto.</a:t>
            </a: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F76F6344-840E-12C6-A564-6D79510CCBE4}"/>
              </a:ext>
            </a:extLst>
          </p:cNvPr>
          <p:cNvSpPr/>
          <p:nvPr/>
        </p:nvSpPr>
        <p:spPr>
          <a:xfrm>
            <a:off x="590283" y="3317796"/>
            <a:ext cx="5230968" cy="262431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800" dirty="0">
                <a:solidFill>
                  <a:schemeClr val="tx1"/>
                </a:solidFill>
              </a:rPr>
              <a:t>Riassumi le fasi del metabolismo.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BB0457CF-B6F6-F4ED-B9FF-83F905BB50F7}"/>
              </a:ext>
            </a:extLst>
          </p:cNvPr>
          <p:cNvSpPr txBox="1"/>
          <p:nvPr/>
        </p:nvSpPr>
        <p:spPr>
          <a:xfrm>
            <a:off x="590282" y="1104485"/>
            <a:ext cx="1101143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dirty="0">
                <a:solidFill>
                  <a:schemeClr val="bg1"/>
                </a:solidFill>
              </a:rPr>
              <a:t>Ho bisogno di riassumere in modo schematico i concetti riguardo il metabolismo e le sue fasi.</a:t>
            </a:r>
          </a:p>
          <a:p>
            <a:pPr algn="ctr"/>
            <a:r>
              <a:rPr lang="it-IT" sz="2800" dirty="0">
                <a:solidFill>
                  <a:schemeClr val="bg1"/>
                </a:solidFill>
              </a:rPr>
              <a:t> </a:t>
            </a:r>
          </a:p>
          <a:p>
            <a:pPr algn="ctr"/>
            <a:r>
              <a:rPr lang="it-IT" sz="2800" dirty="0">
                <a:solidFill>
                  <a:schemeClr val="bg1"/>
                </a:solidFill>
              </a:rPr>
              <a:t>Qual è la miglior domanda da porre all’IA?</a:t>
            </a:r>
          </a:p>
        </p:txBody>
      </p:sp>
      <p:pic>
        <p:nvPicPr>
          <p:cNvPr id="2" name="Immagine 1">
            <a:extLst>
              <a:ext uri="{FF2B5EF4-FFF2-40B4-BE49-F238E27FC236}">
                <a16:creationId xmlns:a16="http://schemas.microsoft.com/office/drawing/2014/main" id="{88DA5EA3-3F25-FB4F-A4E4-02030B8A02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5304" y="7331447"/>
            <a:ext cx="881845" cy="881845"/>
          </a:xfrm>
          <a:prstGeom prst="rect">
            <a:avLst/>
          </a:prstGeom>
        </p:spPr>
      </p:pic>
      <p:pic>
        <p:nvPicPr>
          <p:cNvPr id="6" name="Immagine 5">
            <a:extLst>
              <a:ext uri="{FF2B5EF4-FFF2-40B4-BE49-F238E27FC236}">
                <a16:creationId xmlns:a16="http://schemas.microsoft.com/office/drawing/2014/main" id="{768B4954-E79D-B1B5-035A-6192D4B795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9112" y="7331447"/>
            <a:ext cx="883277" cy="883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15010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35D330-634C-3616-E5AD-2BE6FD497E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magine 5">
            <a:extLst>
              <a:ext uri="{FF2B5EF4-FFF2-40B4-BE49-F238E27FC236}">
                <a16:creationId xmlns:a16="http://schemas.microsoft.com/office/drawing/2014/main" id="{63788D2A-7FC7-4350-AB4D-F49D11CFC7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879"/>
            <a:ext cx="12192000" cy="6858000"/>
          </a:xfrm>
          <a:prstGeom prst="rect">
            <a:avLst/>
          </a:prstGeom>
        </p:spPr>
      </p:pic>
      <p:sp>
        <p:nvSpPr>
          <p:cNvPr id="3" name="Rettangolo 2">
            <a:extLst>
              <a:ext uri="{FF2B5EF4-FFF2-40B4-BE49-F238E27FC236}">
                <a16:creationId xmlns:a16="http://schemas.microsoft.com/office/drawing/2014/main" id="{A49FA6A7-89D3-04B9-D0BB-C0C3C191CE26}"/>
              </a:ext>
            </a:extLst>
          </p:cNvPr>
          <p:cNvSpPr>
            <a:spLocks/>
          </p:cNvSpPr>
          <p:nvPr/>
        </p:nvSpPr>
        <p:spPr>
          <a:xfrm>
            <a:off x="334851" y="231820"/>
            <a:ext cx="11565228" cy="6349284"/>
          </a:xfrm>
          <a:prstGeom prst="rect">
            <a:avLst/>
          </a:prstGeom>
          <a:solidFill>
            <a:srgbClr val="4D125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5FC0D5AB-01BF-1C9D-B458-66019667518C}"/>
              </a:ext>
            </a:extLst>
          </p:cNvPr>
          <p:cNvSpPr/>
          <p:nvPr/>
        </p:nvSpPr>
        <p:spPr>
          <a:xfrm>
            <a:off x="6370750" y="3317796"/>
            <a:ext cx="5230970" cy="262431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800" dirty="0">
                <a:solidFill>
                  <a:schemeClr val="tx1"/>
                </a:solidFill>
              </a:rPr>
              <a:t>Costruisci un elenco puntato sulle fasi del metabolismo, con una breve spiegazione per ogni punto.</a:t>
            </a: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36AB39FF-08BE-634E-2C4A-F9D058E35683}"/>
              </a:ext>
            </a:extLst>
          </p:cNvPr>
          <p:cNvSpPr/>
          <p:nvPr/>
        </p:nvSpPr>
        <p:spPr>
          <a:xfrm>
            <a:off x="590283" y="3317796"/>
            <a:ext cx="5230968" cy="262431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800" dirty="0">
                <a:solidFill>
                  <a:schemeClr val="tx1"/>
                </a:solidFill>
              </a:rPr>
              <a:t>Riassumi le fasi del metabolismo.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2E62067A-1AB6-6FD8-8313-0A347581A889}"/>
              </a:ext>
            </a:extLst>
          </p:cNvPr>
          <p:cNvSpPr txBox="1"/>
          <p:nvPr/>
        </p:nvSpPr>
        <p:spPr>
          <a:xfrm>
            <a:off x="590282" y="1104485"/>
            <a:ext cx="1101143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dirty="0">
                <a:solidFill>
                  <a:schemeClr val="bg1"/>
                </a:solidFill>
              </a:rPr>
              <a:t>Ho bisogno di riassumere in modo schematico i concetti riguardo il metabolismo e le sue fasi.</a:t>
            </a:r>
          </a:p>
          <a:p>
            <a:pPr algn="ctr"/>
            <a:r>
              <a:rPr lang="it-IT" sz="2800" dirty="0">
                <a:solidFill>
                  <a:schemeClr val="bg1"/>
                </a:solidFill>
              </a:rPr>
              <a:t> </a:t>
            </a:r>
          </a:p>
          <a:p>
            <a:pPr algn="ctr"/>
            <a:r>
              <a:rPr lang="it-IT" sz="2800" dirty="0">
                <a:solidFill>
                  <a:schemeClr val="bg1"/>
                </a:solidFill>
              </a:rPr>
              <a:t>Qual è la miglior domanda da porre all’IA?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9342B366-6170-541B-3BA7-8593460DDF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5304" y="5476889"/>
            <a:ext cx="881845" cy="881845"/>
          </a:xfrm>
          <a:prstGeom prst="rect">
            <a:avLst/>
          </a:prstGeom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FB323757-D090-E4F6-28AF-EA7B5AA46E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9112" y="5476889"/>
            <a:ext cx="883277" cy="883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971879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E9A0BA-7A98-27B3-5666-B8BCA4CAAE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magine 5">
            <a:extLst>
              <a:ext uri="{FF2B5EF4-FFF2-40B4-BE49-F238E27FC236}">
                <a16:creationId xmlns:a16="http://schemas.microsoft.com/office/drawing/2014/main" id="{80C2F707-8B9A-6EC4-FF9C-E8AD6B7923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879"/>
            <a:ext cx="12192000" cy="6858000"/>
          </a:xfrm>
          <a:prstGeom prst="rect">
            <a:avLst/>
          </a:prstGeom>
        </p:spPr>
      </p:pic>
      <p:sp>
        <p:nvSpPr>
          <p:cNvPr id="2" name="Rettangolo 1">
            <a:extLst>
              <a:ext uri="{FF2B5EF4-FFF2-40B4-BE49-F238E27FC236}">
                <a16:creationId xmlns:a16="http://schemas.microsoft.com/office/drawing/2014/main" id="{5ADB081A-F393-A541-C785-BEA6DD460D98}"/>
              </a:ext>
            </a:extLst>
          </p:cNvPr>
          <p:cNvSpPr/>
          <p:nvPr/>
        </p:nvSpPr>
        <p:spPr>
          <a:xfrm>
            <a:off x="666399" y="543252"/>
            <a:ext cx="10846675" cy="5754413"/>
          </a:xfrm>
          <a:prstGeom prst="rect">
            <a:avLst/>
          </a:prstGeom>
          <a:solidFill>
            <a:srgbClr val="4D125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b="1"/>
          </a:p>
        </p:txBody>
      </p:sp>
      <p:sp>
        <p:nvSpPr>
          <p:cNvPr id="3" name="Rettangolo 2">
            <a:extLst>
              <a:ext uri="{FF2B5EF4-FFF2-40B4-BE49-F238E27FC236}">
                <a16:creationId xmlns:a16="http://schemas.microsoft.com/office/drawing/2014/main" id="{206F346F-5144-7E89-ECE4-3FA72272E4C5}"/>
              </a:ext>
            </a:extLst>
          </p:cNvPr>
          <p:cNvSpPr>
            <a:spLocks/>
          </p:cNvSpPr>
          <p:nvPr/>
        </p:nvSpPr>
        <p:spPr>
          <a:xfrm>
            <a:off x="297287" y="1622738"/>
            <a:ext cx="11597425" cy="3682231"/>
          </a:xfrm>
          <a:prstGeom prst="rect">
            <a:avLst/>
          </a:prstGeom>
          <a:solidFill>
            <a:srgbClr val="A4E7EC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3200" b="1" dirty="0">
              <a:solidFill>
                <a:schemeClr val="tx1"/>
              </a:solidFill>
            </a:endParaRP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FF597DBE-E792-73D8-070C-2F3B70CE1020}"/>
              </a:ext>
            </a:extLst>
          </p:cNvPr>
          <p:cNvSpPr txBox="1"/>
          <p:nvPr/>
        </p:nvSpPr>
        <p:spPr>
          <a:xfrm>
            <a:off x="590282" y="1720840"/>
            <a:ext cx="1101143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700" dirty="0"/>
              <a:t>Dire chiaramente </a:t>
            </a:r>
            <a:r>
              <a:rPr lang="it-IT" sz="2700" b="1" dirty="0"/>
              <a:t>come deve essere presentata la risposta</a:t>
            </a:r>
            <a:r>
              <a:rPr lang="it-IT" sz="2700" dirty="0"/>
              <a:t>, non solo cosa deve contenere. Indicare struttura, lunghezza, stile o tono aiuta l’IA a organizzare meglio le informazioni e a fornire un risultato immediatamente utilizzabile.</a:t>
            </a:r>
          </a:p>
          <a:p>
            <a:pPr algn="ctr"/>
            <a:endParaRPr lang="it-IT" sz="2700" dirty="0"/>
          </a:p>
          <a:p>
            <a:pPr algn="ctr"/>
            <a:r>
              <a:rPr lang="it-IT" sz="2700" dirty="0"/>
              <a:t>Il formato può riguardare: </a:t>
            </a:r>
            <a:r>
              <a:rPr lang="it-IT" sz="2700" b="1" dirty="0"/>
              <a:t>struttura</a:t>
            </a:r>
            <a:r>
              <a:rPr lang="it-IT" sz="2700" dirty="0"/>
              <a:t> (elenco puntato, testo discorsivo, tabella), </a:t>
            </a:r>
            <a:r>
              <a:rPr lang="it-IT" sz="2700" b="1" dirty="0"/>
              <a:t>lunghezza</a:t>
            </a:r>
            <a:r>
              <a:rPr lang="it-IT" sz="2700" dirty="0"/>
              <a:t>, </a:t>
            </a:r>
            <a:r>
              <a:rPr lang="it-IT" sz="2700" b="1" dirty="0"/>
              <a:t>stile o tono </a:t>
            </a:r>
            <a:r>
              <a:rPr lang="it-IT" sz="2700" dirty="0"/>
              <a:t>(formale, informale, tecnico) e </a:t>
            </a:r>
            <a:r>
              <a:rPr lang="it-IT" sz="2700" b="1" dirty="0"/>
              <a:t>tipo di contenuto </a:t>
            </a:r>
            <a:r>
              <a:rPr lang="it-IT" sz="2700" dirty="0"/>
              <a:t>(riassunto, lettera, codice, poesia).</a:t>
            </a:r>
          </a:p>
        </p:txBody>
      </p:sp>
    </p:spTree>
    <p:extLst>
      <p:ext uri="{BB962C8B-B14F-4D97-AF65-F5344CB8AC3E}">
        <p14:creationId xmlns:p14="http://schemas.microsoft.com/office/powerpoint/2010/main" val="37920882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98BD7F-AAA1-5AEF-C56E-9B7D346AA7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magine 10">
            <a:extLst>
              <a:ext uri="{FF2B5EF4-FFF2-40B4-BE49-F238E27FC236}">
                <a16:creationId xmlns:a16="http://schemas.microsoft.com/office/drawing/2014/main" id="{95A18BFC-D95C-55EC-63C3-F8FC9CD522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879"/>
            <a:ext cx="12192000" cy="6858000"/>
          </a:xfrm>
          <a:prstGeom prst="rect">
            <a:avLst/>
          </a:prstGeom>
        </p:spPr>
      </p:pic>
      <p:sp>
        <p:nvSpPr>
          <p:cNvPr id="3" name="Rettangolo 2">
            <a:extLst>
              <a:ext uri="{FF2B5EF4-FFF2-40B4-BE49-F238E27FC236}">
                <a16:creationId xmlns:a16="http://schemas.microsoft.com/office/drawing/2014/main" id="{078CC6E2-ECED-4334-7495-B1A2A8C12029}"/>
              </a:ext>
            </a:extLst>
          </p:cNvPr>
          <p:cNvSpPr>
            <a:spLocks/>
          </p:cNvSpPr>
          <p:nvPr/>
        </p:nvSpPr>
        <p:spPr>
          <a:xfrm>
            <a:off x="334851" y="231820"/>
            <a:ext cx="11565228" cy="6349284"/>
          </a:xfrm>
          <a:prstGeom prst="rect">
            <a:avLst/>
          </a:prstGeom>
          <a:solidFill>
            <a:srgbClr val="4D125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B4BFB7D8-6DE3-C6CE-A16E-198F47F1E5C9}"/>
              </a:ext>
            </a:extLst>
          </p:cNvPr>
          <p:cNvSpPr/>
          <p:nvPr/>
        </p:nvSpPr>
        <p:spPr>
          <a:xfrm>
            <a:off x="6370748" y="3302388"/>
            <a:ext cx="5230970" cy="262431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800" dirty="0">
                <a:solidFill>
                  <a:schemeClr val="tx1"/>
                </a:solidFill>
              </a:rPr>
              <a:t>Scrivi una descrizione di un giorno di pioggia come se fosse una poesia.</a:t>
            </a: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7BAD5541-FE05-574E-F97D-8FDFDE11D39A}"/>
              </a:ext>
            </a:extLst>
          </p:cNvPr>
          <p:cNvSpPr/>
          <p:nvPr/>
        </p:nvSpPr>
        <p:spPr>
          <a:xfrm>
            <a:off x="737316" y="3302388"/>
            <a:ext cx="5230968" cy="262431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800" dirty="0">
                <a:solidFill>
                  <a:schemeClr val="tx1"/>
                </a:solidFill>
              </a:rPr>
              <a:t>Con questo stile: ‘Il sole tramontava tingendo il cielo di rosso.’ </a:t>
            </a:r>
          </a:p>
          <a:p>
            <a:pPr algn="ctr"/>
            <a:r>
              <a:rPr lang="it-IT" sz="2800" dirty="0">
                <a:solidFill>
                  <a:schemeClr val="tx1"/>
                </a:solidFill>
              </a:rPr>
              <a:t>Ora scrivi una descrizione simile di una giornata piovosa.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23FC5F99-408C-F4D6-C88F-2049EF297520}"/>
              </a:ext>
            </a:extLst>
          </p:cNvPr>
          <p:cNvSpPr txBox="1"/>
          <p:nvPr/>
        </p:nvSpPr>
        <p:spPr>
          <a:xfrm>
            <a:off x="590282" y="859163"/>
            <a:ext cx="1101143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dirty="0">
                <a:solidFill>
                  <a:schemeClr val="bg1"/>
                </a:solidFill>
              </a:rPr>
              <a:t>Devo scrivere una breve descrizione su una giornata di pioggia simile a una poesia già esistente.</a:t>
            </a:r>
          </a:p>
          <a:p>
            <a:pPr algn="ctr"/>
            <a:r>
              <a:rPr lang="it-IT" sz="2800" dirty="0">
                <a:solidFill>
                  <a:schemeClr val="bg1"/>
                </a:solidFill>
              </a:rPr>
              <a:t> </a:t>
            </a:r>
          </a:p>
          <a:p>
            <a:pPr algn="ctr"/>
            <a:r>
              <a:rPr lang="it-IT" sz="2800" dirty="0">
                <a:solidFill>
                  <a:schemeClr val="bg1"/>
                </a:solidFill>
              </a:rPr>
              <a:t>Qual è la miglior domanda da porre all’IA?</a:t>
            </a:r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EDAB5E13-36B1-1371-C325-E7A0D21642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0168" y="7605541"/>
            <a:ext cx="881845" cy="881845"/>
          </a:xfrm>
          <a:prstGeom prst="rect">
            <a:avLst/>
          </a:prstGeom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D7CB1E16-97C3-1684-CE0A-DBA5A6A8FD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07330" y="7604109"/>
            <a:ext cx="883277" cy="883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14091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454B15-132D-7FBC-4D76-9A43000C39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magine 10">
            <a:extLst>
              <a:ext uri="{FF2B5EF4-FFF2-40B4-BE49-F238E27FC236}">
                <a16:creationId xmlns:a16="http://schemas.microsoft.com/office/drawing/2014/main" id="{1337244F-AA1F-ED8B-4FBE-6A3CB135D8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879"/>
            <a:ext cx="12192000" cy="6858000"/>
          </a:xfrm>
          <a:prstGeom prst="rect">
            <a:avLst/>
          </a:prstGeom>
        </p:spPr>
      </p:pic>
      <p:sp>
        <p:nvSpPr>
          <p:cNvPr id="3" name="Rettangolo 2">
            <a:extLst>
              <a:ext uri="{FF2B5EF4-FFF2-40B4-BE49-F238E27FC236}">
                <a16:creationId xmlns:a16="http://schemas.microsoft.com/office/drawing/2014/main" id="{9E61A925-9E1E-C82C-73AD-E65AE24DFD97}"/>
              </a:ext>
            </a:extLst>
          </p:cNvPr>
          <p:cNvSpPr>
            <a:spLocks/>
          </p:cNvSpPr>
          <p:nvPr/>
        </p:nvSpPr>
        <p:spPr>
          <a:xfrm>
            <a:off x="334851" y="231820"/>
            <a:ext cx="11565228" cy="6349284"/>
          </a:xfrm>
          <a:prstGeom prst="rect">
            <a:avLst/>
          </a:prstGeom>
          <a:solidFill>
            <a:srgbClr val="4D125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Rettangolo 1">
            <a:extLst>
              <a:ext uri="{FF2B5EF4-FFF2-40B4-BE49-F238E27FC236}">
                <a16:creationId xmlns:a16="http://schemas.microsoft.com/office/drawing/2014/main" id="{ACD0A2CE-1457-C21B-A9A9-683FE40D00CF}"/>
              </a:ext>
            </a:extLst>
          </p:cNvPr>
          <p:cNvSpPr/>
          <p:nvPr/>
        </p:nvSpPr>
        <p:spPr>
          <a:xfrm>
            <a:off x="6370748" y="3302388"/>
            <a:ext cx="5230970" cy="262431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800" dirty="0">
                <a:solidFill>
                  <a:schemeClr val="tx1"/>
                </a:solidFill>
              </a:rPr>
              <a:t>Scrivi una descrizione di un giorno di pioggia come se fosse una poesia.</a:t>
            </a:r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99523977-5BEC-4ACE-7BA1-F69ABE0D6446}"/>
              </a:ext>
            </a:extLst>
          </p:cNvPr>
          <p:cNvSpPr/>
          <p:nvPr/>
        </p:nvSpPr>
        <p:spPr>
          <a:xfrm>
            <a:off x="737316" y="3302388"/>
            <a:ext cx="5230968" cy="262431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800" dirty="0">
                <a:solidFill>
                  <a:schemeClr val="tx1"/>
                </a:solidFill>
              </a:rPr>
              <a:t>Con questo stile: ‘Il sole tramontava tingendo il cielo di rosso.’ </a:t>
            </a:r>
          </a:p>
          <a:p>
            <a:pPr algn="ctr"/>
            <a:r>
              <a:rPr lang="it-IT" sz="2800" dirty="0">
                <a:solidFill>
                  <a:schemeClr val="tx1"/>
                </a:solidFill>
              </a:rPr>
              <a:t>Ora scrivi una descrizione simile di una giornata piovosa.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FDC9F37E-5C8C-E416-9623-E2C7B3CCA406}"/>
              </a:ext>
            </a:extLst>
          </p:cNvPr>
          <p:cNvSpPr txBox="1"/>
          <p:nvPr/>
        </p:nvSpPr>
        <p:spPr>
          <a:xfrm>
            <a:off x="590282" y="859163"/>
            <a:ext cx="1101143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dirty="0">
                <a:solidFill>
                  <a:schemeClr val="bg1"/>
                </a:solidFill>
              </a:rPr>
              <a:t>Devo scrivere una breve descrizione su una giornata di pioggia simile a una poesia già esistente.</a:t>
            </a:r>
          </a:p>
          <a:p>
            <a:pPr algn="ctr"/>
            <a:r>
              <a:rPr lang="it-IT" sz="2800" dirty="0">
                <a:solidFill>
                  <a:schemeClr val="bg1"/>
                </a:solidFill>
              </a:rPr>
              <a:t> </a:t>
            </a:r>
          </a:p>
          <a:p>
            <a:pPr algn="ctr"/>
            <a:r>
              <a:rPr lang="it-IT" sz="2800" dirty="0">
                <a:solidFill>
                  <a:schemeClr val="bg1"/>
                </a:solidFill>
              </a:rPr>
              <a:t>Qual è la miglior domanda da porre all’IA?</a:t>
            </a:r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27525211-7E32-19F4-8CC4-997E187FD0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0168" y="5403252"/>
            <a:ext cx="881845" cy="881845"/>
          </a:xfrm>
          <a:prstGeom prst="rect">
            <a:avLst/>
          </a:prstGeom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55941C8C-45D2-B4FE-7152-964C534763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07330" y="5401820"/>
            <a:ext cx="883277" cy="883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66744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665890-33C6-2585-0ACB-FC05435B54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magine 5">
            <a:extLst>
              <a:ext uri="{FF2B5EF4-FFF2-40B4-BE49-F238E27FC236}">
                <a16:creationId xmlns:a16="http://schemas.microsoft.com/office/drawing/2014/main" id="{17EC5859-0177-19A4-54B9-2B3BC993BE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879"/>
            <a:ext cx="12192000" cy="6858000"/>
          </a:xfrm>
          <a:prstGeom prst="rect">
            <a:avLst/>
          </a:prstGeom>
        </p:spPr>
      </p:pic>
      <p:sp>
        <p:nvSpPr>
          <p:cNvPr id="2" name="Rettangolo 1">
            <a:extLst>
              <a:ext uri="{FF2B5EF4-FFF2-40B4-BE49-F238E27FC236}">
                <a16:creationId xmlns:a16="http://schemas.microsoft.com/office/drawing/2014/main" id="{2B7E5F6F-E516-3CE5-222E-72AFE02A32B1}"/>
              </a:ext>
            </a:extLst>
          </p:cNvPr>
          <p:cNvSpPr/>
          <p:nvPr/>
        </p:nvSpPr>
        <p:spPr>
          <a:xfrm>
            <a:off x="666399" y="543252"/>
            <a:ext cx="10846675" cy="5754413"/>
          </a:xfrm>
          <a:prstGeom prst="rect">
            <a:avLst/>
          </a:prstGeom>
          <a:solidFill>
            <a:srgbClr val="4D125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b="1"/>
          </a:p>
        </p:txBody>
      </p:sp>
      <p:sp>
        <p:nvSpPr>
          <p:cNvPr id="3" name="Rettangolo 2">
            <a:extLst>
              <a:ext uri="{FF2B5EF4-FFF2-40B4-BE49-F238E27FC236}">
                <a16:creationId xmlns:a16="http://schemas.microsoft.com/office/drawing/2014/main" id="{171E52EC-E483-839C-27F3-A821DFE00359}"/>
              </a:ext>
            </a:extLst>
          </p:cNvPr>
          <p:cNvSpPr>
            <a:spLocks/>
          </p:cNvSpPr>
          <p:nvPr/>
        </p:nvSpPr>
        <p:spPr>
          <a:xfrm>
            <a:off x="297287" y="1622738"/>
            <a:ext cx="11597425" cy="3682231"/>
          </a:xfrm>
          <a:prstGeom prst="rect">
            <a:avLst/>
          </a:prstGeom>
          <a:solidFill>
            <a:srgbClr val="99AEEB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3200" b="1" dirty="0">
              <a:solidFill>
                <a:schemeClr val="tx1"/>
              </a:solidFill>
            </a:endParaRP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60369FFC-585E-69FF-A1CC-62B1F2129E35}"/>
              </a:ext>
            </a:extLst>
          </p:cNvPr>
          <p:cNvSpPr txBox="1"/>
          <p:nvPr/>
        </p:nvSpPr>
        <p:spPr>
          <a:xfrm>
            <a:off x="590282" y="2090172"/>
            <a:ext cx="11011436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dirty="0"/>
              <a:t>L’uso di esempi nei prompt guida l’IA a imitare il formato, tono, stile e livello di dettaglio desiderati, riducendo ambiguità e chiarendo l’obiettivo, ed è efficace sia in contesti creativi sia tecnici.</a:t>
            </a:r>
          </a:p>
          <a:p>
            <a:pPr algn="ctr"/>
            <a:endParaRPr lang="it-IT" sz="2800" dirty="0"/>
          </a:p>
          <a:p>
            <a:pPr algn="ctr"/>
            <a:r>
              <a:rPr lang="it-IT" sz="2800" dirty="0"/>
              <a:t>ATTENZIONE!</a:t>
            </a:r>
          </a:p>
          <a:p>
            <a:pPr algn="ctr"/>
            <a:r>
              <a:rPr lang="it-IT" sz="2800" dirty="0"/>
              <a:t>Potrebbe influenzare troppo.</a:t>
            </a:r>
          </a:p>
        </p:txBody>
      </p:sp>
    </p:spTree>
    <p:extLst>
      <p:ext uri="{BB962C8B-B14F-4D97-AF65-F5344CB8AC3E}">
        <p14:creationId xmlns:p14="http://schemas.microsoft.com/office/powerpoint/2010/main" val="19656257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678414-320B-1650-B63B-D4902EE39D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>
            <a:extLst>
              <a:ext uri="{FF2B5EF4-FFF2-40B4-BE49-F238E27FC236}">
                <a16:creationId xmlns:a16="http://schemas.microsoft.com/office/drawing/2014/main" id="{AE3F17E3-6F22-A540-C34E-69AD97B391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879"/>
            <a:ext cx="12192000" cy="6858000"/>
          </a:xfrm>
          <a:prstGeom prst="rect">
            <a:avLst/>
          </a:prstGeom>
        </p:spPr>
      </p:pic>
      <p:sp>
        <p:nvSpPr>
          <p:cNvPr id="5" name="Rettangolo 4">
            <a:extLst>
              <a:ext uri="{FF2B5EF4-FFF2-40B4-BE49-F238E27FC236}">
                <a16:creationId xmlns:a16="http://schemas.microsoft.com/office/drawing/2014/main" id="{FF4AD0E9-A10B-401F-0893-CC1AA99FF407}"/>
              </a:ext>
            </a:extLst>
          </p:cNvPr>
          <p:cNvSpPr>
            <a:spLocks/>
          </p:cNvSpPr>
          <p:nvPr/>
        </p:nvSpPr>
        <p:spPr>
          <a:xfrm>
            <a:off x="334851" y="231820"/>
            <a:ext cx="11565228" cy="6349284"/>
          </a:xfrm>
          <a:prstGeom prst="rect">
            <a:avLst/>
          </a:prstGeom>
          <a:solidFill>
            <a:srgbClr val="4D125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9B104DBA-1321-5877-95B3-186C99B1B59B}"/>
              </a:ext>
            </a:extLst>
          </p:cNvPr>
          <p:cNvSpPr/>
          <p:nvPr/>
        </p:nvSpPr>
        <p:spPr>
          <a:xfrm>
            <a:off x="590282" y="3483735"/>
            <a:ext cx="5230970" cy="262431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800" dirty="0">
                <a:solidFill>
                  <a:schemeClr val="tx1"/>
                </a:solidFill>
              </a:rPr>
              <a:t>Perché dovrei scegliere Ibiza come meta per le vacanze?</a:t>
            </a: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E9223BC6-B356-F7D0-8D1E-AF523C301C81}"/>
              </a:ext>
            </a:extLst>
          </p:cNvPr>
          <p:cNvSpPr/>
          <p:nvPr/>
        </p:nvSpPr>
        <p:spPr>
          <a:xfrm>
            <a:off x="6370750" y="3483735"/>
            <a:ext cx="5230968" cy="262431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800" dirty="0">
                <a:solidFill>
                  <a:schemeClr val="tx1"/>
                </a:solidFill>
              </a:rPr>
              <a:t>Descrivi come Ibiza sia la miglior meta per le vacanze estive.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5B70A0EB-421E-0622-4A6A-A8E37030D1E4}"/>
              </a:ext>
            </a:extLst>
          </p:cNvPr>
          <p:cNvSpPr txBox="1"/>
          <p:nvPr/>
        </p:nvSpPr>
        <p:spPr>
          <a:xfrm>
            <a:off x="611747" y="949837"/>
            <a:ext cx="1101143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dirty="0">
                <a:solidFill>
                  <a:schemeClr val="bg1"/>
                </a:solidFill>
              </a:rPr>
              <a:t>Voglio avere un testo pronto da leggere, per convincere il mio amico che la scelta migliore per le vacanze è Ibiza.</a:t>
            </a:r>
          </a:p>
          <a:p>
            <a:pPr algn="ctr"/>
            <a:r>
              <a:rPr lang="it-IT" sz="2800" dirty="0">
                <a:solidFill>
                  <a:schemeClr val="bg1"/>
                </a:solidFill>
              </a:rPr>
              <a:t> </a:t>
            </a:r>
          </a:p>
          <a:p>
            <a:pPr algn="ctr"/>
            <a:r>
              <a:rPr lang="it-IT" sz="2800" dirty="0">
                <a:solidFill>
                  <a:schemeClr val="bg1"/>
                </a:solidFill>
              </a:rPr>
              <a:t>Qual è la miglior domanda da porre all’IA?</a:t>
            </a:r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A96867E8-8D04-3BFC-611E-BB6989CB5D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0168" y="7541145"/>
            <a:ext cx="881845" cy="881845"/>
          </a:xfrm>
          <a:prstGeom prst="rect">
            <a:avLst/>
          </a:prstGeom>
        </p:spPr>
      </p:pic>
      <p:pic>
        <p:nvPicPr>
          <p:cNvPr id="4" name="Immagine 3">
            <a:extLst>
              <a:ext uri="{FF2B5EF4-FFF2-40B4-BE49-F238E27FC236}">
                <a16:creationId xmlns:a16="http://schemas.microsoft.com/office/drawing/2014/main" id="{A7A6A44E-F0A2-72F4-0CFB-9FB93DC2A8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07330" y="7539713"/>
            <a:ext cx="883277" cy="883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63284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38C700-95CC-AE80-4624-97A91A5316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magine 5">
            <a:extLst>
              <a:ext uri="{FF2B5EF4-FFF2-40B4-BE49-F238E27FC236}">
                <a16:creationId xmlns:a16="http://schemas.microsoft.com/office/drawing/2014/main" id="{B5C2B745-6D56-6537-359D-D156078BAB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879"/>
            <a:ext cx="12192000" cy="6858000"/>
          </a:xfrm>
          <a:prstGeom prst="rect">
            <a:avLst/>
          </a:prstGeom>
        </p:spPr>
      </p:pic>
      <p:sp>
        <p:nvSpPr>
          <p:cNvPr id="5" name="Rettangolo 4">
            <a:extLst>
              <a:ext uri="{FF2B5EF4-FFF2-40B4-BE49-F238E27FC236}">
                <a16:creationId xmlns:a16="http://schemas.microsoft.com/office/drawing/2014/main" id="{F924ABD4-9D9B-0DBB-AADC-E55171C4485C}"/>
              </a:ext>
            </a:extLst>
          </p:cNvPr>
          <p:cNvSpPr>
            <a:spLocks/>
          </p:cNvSpPr>
          <p:nvPr/>
        </p:nvSpPr>
        <p:spPr>
          <a:xfrm>
            <a:off x="334851" y="231820"/>
            <a:ext cx="11565228" cy="6349284"/>
          </a:xfrm>
          <a:prstGeom prst="rect">
            <a:avLst/>
          </a:prstGeom>
          <a:solidFill>
            <a:srgbClr val="4D125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FBAF4F39-3DD3-44FC-5DEC-DB096A394E52}"/>
              </a:ext>
            </a:extLst>
          </p:cNvPr>
          <p:cNvSpPr/>
          <p:nvPr/>
        </p:nvSpPr>
        <p:spPr>
          <a:xfrm>
            <a:off x="590282" y="3483735"/>
            <a:ext cx="5230970" cy="262431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800" dirty="0">
                <a:solidFill>
                  <a:schemeClr val="tx1"/>
                </a:solidFill>
              </a:rPr>
              <a:t>Perché dovrei scegliere Ibiza come meta per le vacanze?</a:t>
            </a: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7DD7972E-199F-E431-D5E3-C63995DD5E31}"/>
              </a:ext>
            </a:extLst>
          </p:cNvPr>
          <p:cNvSpPr/>
          <p:nvPr/>
        </p:nvSpPr>
        <p:spPr>
          <a:xfrm>
            <a:off x="6370750" y="3483735"/>
            <a:ext cx="5230968" cy="262431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800" dirty="0">
                <a:solidFill>
                  <a:schemeClr val="tx1"/>
                </a:solidFill>
              </a:rPr>
              <a:t>Descrivi come Ibiza sia la miglior meta per le vacanze estive.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3A1557CF-EBE0-29C9-B101-1CCA3D47FD3E}"/>
              </a:ext>
            </a:extLst>
          </p:cNvPr>
          <p:cNvSpPr txBox="1"/>
          <p:nvPr/>
        </p:nvSpPr>
        <p:spPr>
          <a:xfrm>
            <a:off x="611747" y="949837"/>
            <a:ext cx="1101143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dirty="0">
                <a:solidFill>
                  <a:schemeClr val="bg1"/>
                </a:solidFill>
              </a:rPr>
              <a:t>Voglio avere un testo pronto da leggere, per convincere il mio amico che la scelta migliore per le vacanze è Ibiza.</a:t>
            </a:r>
          </a:p>
          <a:p>
            <a:pPr algn="ctr"/>
            <a:r>
              <a:rPr lang="it-IT" sz="2800" dirty="0">
                <a:solidFill>
                  <a:schemeClr val="bg1"/>
                </a:solidFill>
              </a:rPr>
              <a:t> </a:t>
            </a:r>
          </a:p>
          <a:p>
            <a:pPr algn="ctr"/>
            <a:r>
              <a:rPr lang="it-IT" sz="2800" dirty="0">
                <a:solidFill>
                  <a:schemeClr val="bg1"/>
                </a:solidFill>
              </a:rPr>
              <a:t>Qual è la miglior domanda da porre all’IA?</a:t>
            </a:r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DCC451FA-80D4-2A0F-7EDD-4DFFBF6067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0168" y="5403252"/>
            <a:ext cx="881845" cy="881845"/>
          </a:xfrm>
          <a:prstGeom prst="rect">
            <a:avLst/>
          </a:prstGeom>
        </p:spPr>
      </p:pic>
      <p:pic>
        <p:nvPicPr>
          <p:cNvPr id="4" name="Immagine 3">
            <a:extLst>
              <a:ext uri="{FF2B5EF4-FFF2-40B4-BE49-F238E27FC236}">
                <a16:creationId xmlns:a16="http://schemas.microsoft.com/office/drawing/2014/main" id="{7E5DAFC8-5AC1-C200-67A9-9670526C4D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07330" y="5401820"/>
            <a:ext cx="883277" cy="883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31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C048EE-5202-BFC8-8DA8-50C41DC5EC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>
            <a:extLst>
              <a:ext uri="{FF2B5EF4-FFF2-40B4-BE49-F238E27FC236}">
                <a16:creationId xmlns:a16="http://schemas.microsoft.com/office/drawing/2014/main" id="{AA839CC1-F18E-055E-CD71-F34C02C43A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879"/>
            <a:ext cx="12192000" cy="6858000"/>
          </a:xfrm>
          <a:prstGeom prst="rect">
            <a:avLst/>
          </a:prstGeom>
        </p:spPr>
      </p:pic>
      <p:sp>
        <p:nvSpPr>
          <p:cNvPr id="2" name="Rettangolo 1">
            <a:extLst>
              <a:ext uri="{FF2B5EF4-FFF2-40B4-BE49-F238E27FC236}">
                <a16:creationId xmlns:a16="http://schemas.microsoft.com/office/drawing/2014/main" id="{393CE093-8604-62F9-0206-234B7AB92555}"/>
              </a:ext>
            </a:extLst>
          </p:cNvPr>
          <p:cNvSpPr/>
          <p:nvPr/>
        </p:nvSpPr>
        <p:spPr>
          <a:xfrm>
            <a:off x="666399" y="543252"/>
            <a:ext cx="10846675" cy="5754413"/>
          </a:xfrm>
          <a:prstGeom prst="rect">
            <a:avLst/>
          </a:prstGeom>
          <a:solidFill>
            <a:srgbClr val="4D125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b="1"/>
          </a:p>
        </p:txBody>
      </p:sp>
      <p:sp>
        <p:nvSpPr>
          <p:cNvPr id="3" name="Rettangolo 2">
            <a:extLst>
              <a:ext uri="{FF2B5EF4-FFF2-40B4-BE49-F238E27FC236}">
                <a16:creationId xmlns:a16="http://schemas.microsoft.com/office/drawing/2014/main" id="{5744BE6E-35A7-93DF-4F9E-22AC3C9DCFBF}"/>
              </a:ext>
            </a:extLst>
          </p:cNvPr>
          <p:cNvSpPr>
            <a:spLocks/>
          </p:cNvSpPr>
          <p:nvPr/>
        </p:nvSpPr>
        <p:spPr>
          <a:xfrm>
            <a:off x="297287" y="1622738"/>
            <a:ext cx="11597425" cy="3682231"/>
          </a:xfrm>
          <a:prstGeom prst="rect">
            <a:avLst/>
          </a:prstGeom>
          <a:solidFill>
            <a:srgbClr val="D58BE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3200" b="1" dirty="0">
              <a:solidFill>
                <a:schemeClr val="tx1"/>
              </a:solidFill>
            </a:endParaRP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FE6858B3-4C52-B854-FCD1-6794C21BCB05}"/>
              </a:ext>
            </a:extLst>
          </p:cNvPr>
          <p:cNvSpPr txBox="1"/>
          <p:nvPr/>
        </p:nvSpPr>
        <p:spPr>
          <a:xfrm>
            <a:off x="584018" y="1909581"/>
            <a:ext cx="11011436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dirty="0"/>
              <a:t>Le domande tendenziose (</a:t>
            </a:r>
            <a:r>
              <a:rPr lang="it-IT" sz="2800" dirty="0" err="1"/>
              <a:t>leading</a:t>
            </a:r>
            <a:r>
              <a:rPr lang="it-IT" sz="2800" dirty="0"/>
              <a:t> </a:t>
            </a:r>
            <a:r>
              <a:rPr lang="it-IT" sz="2800" dirty="0" err="1"/>
              <a:t>questions</a:t>
            </a:r>
            <a:r>
              <a:rPr lang="it-IT" sz="2800" dirty="0"/>
              <a:t>), invece spingono l’IA verso una risposta predefinita, introducendo bias e riducendo la qualità dell’informazione ottenuta.</a:t>
            </a:r>
          </a:p>
          <a:p>
            <a:pPr algn="ctr"/>
            <a:endParaRPr lang="it-IT" sz="2800" dirty="0"/>
          </a:p>
          <a:p>
            <a:pPr algn="ctr"/>
            <a:r>
              <a:rPr lang="it-IT" sz="2800" dirty="0"/>
              <a:t>Le domande dirette sono particolarmente importanti quando si cercano: valutazioni imparziali, confronti equilibrati e analisi di temi complessi.</a:t>
            </a:r>
          </a:p>
        </p:txBody>
      </p:sp>
    </p:spTree>
    <p:extLst>
      <p:ext uri="{BB962C8B-B14F-4D97-AF65-F5344CB8AC3E}">
        <p14:creationId xmlns:p14="http://schemas.microsoft.com/office/powerpoint/2010/main" val="27972793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83873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7B82E68-463E-844F-1AB0-55310CEED8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Immagine 25">
            <a:extLst>
              <a:ext uri="{FF2B5EF4-FFF2-40B4-BE49-F238E27FC236}">
                <a16:creationId xmlns:a16="http://schemas.microsoft.com/office/drawing/2014/main" id="{2D106A5D-704D-BF38-78DC-AF053579EF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879"/>
            <a:ext cx="12192000" cy="6858000"/>
          </a:xfrm>
          <a:prstGeom prst="rect">
            <a:avLst/>
          </a:prstGeom>
        </p:spPr>
      </p:pic>
      <p:sp>
        <p:nvSpPr>
          <p:cNvPr id="14" name="Rettangolo 13">
            <a:extLst>
              <a:ext uri="{FF2B5EF4-FFF2-40B4-BE49-F238E27FC236}">
                <a16:creationId xmlns:a16="http://schemas.microsoft.com/office/drawing/2014/main" id="{BB4763AD-6B86-5C19-493F-43DE5060E05E}"/>
              </a:ext>
            </a:extLst>
          </p:cNvPr>
          <p:cNvSpPr/>
          <p:nvPr/>
        </p:nvSpPr>
        <p:spPr>
          <a:xfrm>
            <a:off x="666399" y="543252"/>
            <a:ext cx="10846675" cy="5754413"/>
          </a:xfrm>
          <a:prstGeom prst="rect">
            <a:avLst/>
          </a:prstGeom>
          <a:solidFill>
            <a:srgbClr val="4D125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" name="Rettangolo 2">
            <a:extLst>
              <a:ext uri="{FF2B5EF4-FFF2-40B4-BE49-F238E27FC236}">
                <a16:creationId xmlns:a16="http://schemas.microsoft.com/office/drawing/2014/main" id="{C8967203-75DD-C615-5E47-C29D16610569}"/>
              </a:ext>
            </a:extLst>
          </p:cNvPr>
          <p:cNvSpPr/>
          <p:nvPr/>
        </p:nvSpPr>
        <p:spPr>
          <a:xfrm>
            <a:off x="328963" y="1430673"/>
            <a:ext cx="2165337" cy="3991334"/>
          </a:xfrm>
          <a:prstGeom prst="rect">
            <a:avLst/>
          </a:prstGeom>
          <a:solidFill>
            <a:srgbClr val="ECE89C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3200" dirty="0">
                <a:solidFill>
                  <a:schemeClr val="tx1"/>
                </a:solidFill>
              </a:rPr>
              <a:t>Precisione</a:t>
            </a: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65E1E456-5A58-1459-C07B-44C55930CEBE}"/>
              </a:ext>
            </a:extLst>
          </p:cNvPr>
          <p:cNvSpPr/>
          <p:nvPr/>
        </p:nvSpPr>
        <p:spPr>
          <a:xfrm>
            <a:off x="2668016" y="1418911"/>
            <a:ext cx="2165337" cy="4003096"/>
          </a:xfrm>
          <a:prstGeom prst="rect">
            <a:avLst/>
          </a:prstGeom>
          <a:solidFill>
            <a:srgbClr val="CDEEB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3200" dirty="0">
                <a:solidFill>
                  <a:schemeClr val="tx1"/>
                </a:solidFill>
              </a:rPr>
              <a:t>Contesto</a:t>
            </a:r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A09FE37B-776A-07F0-8644-BA752C314B10}"/>
              </a:ext>
            </a:extLst>
          </p:cNvPr>
          <p:cNvSpPr/>
          <p:nvPr/>
        </p:nvSpPr>
        <p:spPr>
          <a:xfrm>
            <a:off x="5007069" y="1418911"/>
            <a:ext cx="2165337" cy="4003096"/>
          </a:xfrm>
          <a:prstGeom prst="rect">
            <a:avLst/>
          </a:prstGeom>
          <a:solidFill>
            <a:srgbClr val="A4E7EC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3200" dirty="0">
                <a:solidFill>
                  <a:schemeClr val="tx1"/>
                </a:solidFill>
              </a:rPr>
              <a:t>Output</a:t>
            </a:r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28F3DC67-8CA8-AD71-D744-C911DD46580A}"/>
              </a:ext>
            </a:extLst>
          </p:cNvPr>
          <p:cNvSpPr/>
          <p:nvPr/>
        </p:nvSpPr>
        <p:spPr>
          <a:xfrm>
            <a:off x="7346122" y="1418911"/>
            <a:ext cx="2165337" cy="4003096"/>
          </a:xfrm>
          <a:prstGeom prst="rect">
            <a:avLst/>
          </a:prstGeom>
          <a:solidFill>
            <a:srgbClr val="99AEEB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3200" dirty="0">
                <a:solidFill>
                  <a:schemeClr val="tx1"/>
                </a:solidFill>
              </a:rPr>
              <a:t>Esempi</a:t>
            </a: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568D1CC0-94F5-7444-C30F-0CECB1FCBEE6}"/>
              </a:ext>
            </a:extLst>
          </p:cNvPr>
          <p:cNvSpPr/>
          <p:nvPr/>
        </p:nvSpPr>
        <p:spPr>
          <a:xfrm>
            <a:off x="9685175" y="1430672"/>
            <a:ext cx="2165337" cy="4003096"/>
          </a:xfrm>
          <a:prstGeom prst="rect">
            <a:avLst/>
          </a:prstGeom>
          <a:solidFill>
            <a:srgbClr val="D58BE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3200" dirty="0">
                <a:solidFill>
                  <a:schemeClr val="tx1"/>
                </a:solidFill>
              </a:rPr>
              <a:t>Neutralità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6F5FBBA3-7E3C-65AC-5FF6-19A8115EEA42}"/>
              </a:ext>
            </a:extLst>
          </p:cNvPr>
          <p:cNvSpPr txBox="1"/>
          <p:nvPr/>
        </p:nvSpPr>
        <p:spPr>
          <a:xfrm>
            <a:off x="993999" y="1430674"/>
            <a:ext cx="61987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6000" dirty="0">
                <a:latin typeface="Cooper Black" panose="0208090404030B020404" pitchFamily="18" charset="77"/>
              </a:rPr>
              <a:t>1</a:t>
            </a:r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1B814874-D19A-51A2-45BF-2D33DBE9B10B}"/>
              </a:ext>
            </a:extLst>
          </p:cNvPr>
          <p:cNvSpPr txBox="1"/>
          <p:nvPr/>
        </p:nvSpPr>
        <p:spPr>
          <a:xfrm>
            <a:off x="3440748" y="1430673"/>
            <a:ext cx="61987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6000" dirty="0">
                <a:latin typeface="Cooper Black" panose="0208090404030B020404" pitchFamily="18" charset="77"/>
              </a:rPr>
              <a:t>2</a:t>
            </a:r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D515EEE6-EE3A-0FB7-52C6-05118C9C5954}"/>
              </a:ext>
            </a:extLst>
          </p:cNvPr>
          <p:cNvSpPr txBox="1"/>
          <p:nvPr/>
        </p:nvSpPr>
        <p:spPr>
          <a:xfrm>
            <a:off x="5746792" y="1430672"/>
            <a:ext cx="61987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6000" dirty="0">
                <a:latin typeface="Cooper Black" panose="0208090404030B020404" pitchFamily="18" charset="77"/>
              </a:rPr>
              <a:t>3</a:t>
            </a:r>
          </a:p>
        </p:txBody>
      </p: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396CB241-97B6-9519-2E0F-E0B82A59338E}"/>
              </a:ext>
            </a:extLst>
          </p:cNvPr>
          <p:cNvSpPr txBox="1"/>
          <p:nvPr/>
        </p:nvSpPr>
        <p:spPr>
          <a:xfrm>
            <a:off x="8052836" y="1418910"/>
            <a:ext cx="61987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6000" dirty="0">
                <a:latin typeface="Cooper Black" panose="0208090404030B020404" pitchFamily="18" charset="77"/>
              </a:rPr>
              <a:t>4</a:t>
            </a:r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A8F42814-180E-0CA7-CF39-6D008B3EEC64}"/>
              </a:ext>
            </a:extLst>
          </p:cNvPr>
          <p:cNvSpPr txBox="1"/>
          <p:nvPr/>
        </p:nvSpPr>
        <p:spPr>
          <a:xfrm>
            <a:off x="10457907" y="1443552"/>
            <a:ext cx="61987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6000" dirty="0">
                <a:latin typeface="Cooper Black" panose="0208090404030B020404" pitchFamily="18" charset="77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53847108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511</TotalTime>
  <Words>845</Words>
  <Application>Microsoft Macintosh PowerPoint</Application>
  <PresentationFormat>Widescreen</PresentationFormat>
  <Paragraphs>79</Paragraphs>
  <Slides>17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17</vt:i4>
      </vt:variant>
    </vt:vector>
  </HeadingPairs>
  <TitlesOfParts>
    <vt:vector size="22" baseType="lpstr">
      <vt:lpstr>Aptos</vt:lpstr>
      <vt:lpstr>Aptos Display</vt:lpstr>
      <vt:lpstr>Arial</vt:lpstr>
      <vt:lpstr>Cooper Black</vt:lpstr>
      <vt:lpstr>Tema di Office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Marta Stefanelli</dc:creator>
  <cp:lastModifiedBy>Marta Stefanelli</cp:lastModifiedBy>
  <cp:revision>157</cp:revision>
  <dcterms:created xsi:type="dcterms:W3CDTF">2026-01-08T10:26:09Z</dcterms:created>
  <dcterms:modified xsi:type="dcterms:W3CDTF">2026-01-27T16:22:24Z</dcterms:modified>
</cp:coreProperties>
</file>
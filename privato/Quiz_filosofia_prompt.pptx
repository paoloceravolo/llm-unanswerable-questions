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C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81"/>
  </p:normalViewPr>
  <p:slideViewPr>
    <p:cSldViewPr snapToGrid="0">
      <p:cViewPr varScale="1">
        <p:scale>
          <a:sx n="99" d="100"/>
          <a:sy n="99" d="100"/>
        </p:scale>
        <p:origin x="8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32E9C3-0C81-4FAA-4B90-3C771DB5F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1E62A29-B673-B801-1B33-C6626CE23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1B1946-98A3-05A3-9B6E-395875BCD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14/01/26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9E1975A-BC56-08FE-9330-05C06DC0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B6453EA-DC26-C528-9B89-4D502A9C4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0032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644C53-4DD6-EC4A-48DF-E9124E92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4B6A60-69C6-72CD-59C8-205812A49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5AED08B-7EC4-E57A-4FDA-2017221FC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14/01/26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3CDB5F-EF88-35E5-047B-24CE6817A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B577B9-33CD-BB45-9A13-ADDDA40C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7370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64D69E-7D97-B489-A38D-BEC8AA2A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4DF7C40-3A15-BE93-6DE8-5C39E6B1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B82C8F-49A5-ECDE-D48E-BA88BE225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14/01/26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25416F0-2080-FD43-2F82-B2E9142E3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74E064-5166-ACEA-E4CE-2CEB16E30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967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38CAB5-08FB-DD8A-0C56-3FEC4AC2C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9B0AD4-738E-C8BE-642D-C7D1B209D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E5812F-02DD-CFBD-1523-306701EDD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E0D5547-1971-346C-D284-91ED61F21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14/01/26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A2C747E-3A6B-50D6-1D8A-1624FF01A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5DE6FA1-85D4-B41C-BF42-2BBEFA161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0662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43048A-805A-138B-3031-9E7FC41F4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A6D1CB4-1DE2-1AEA-DCFD-2B399B426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0219833-9FD8-EE32-6741-2353D264C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CC9C634-5494-4E4E-1EB0-99CA1F41E4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72F2F1A-DF0B-33E5-37C4-BA0F1D3361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E80A490-C096-D90F-F4EA-2421B9E3E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14/01/26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F68A41B-E578-6E64-297E-920E4B06A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6FB7D7C-D6BC-4644-AB1B-AC3377F97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8202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7701C7-EF32-3006-A417-0366B5A30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A9F34E1-FB40-69AD-2C61-F95A73916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14/01/26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C07D21A-8A18-3236-294A-CDCCD56F0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72CCC10-3856-BF4F-DC09-FD437B24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281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C3B32D8-A1F2-94B7-6191-3537BFEC2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14/01/26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FC88744-65F6-8F5D-AFB2-327AC43DE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D9A97F3-E519-5D40-E603-B3111E86B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1276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0A3828-9DE0-9F1B-D4BE-0C3AE532D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614A29-DF1A-5A13-6CF7-D502C6F4D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1EE792F-4BC4-B8F2-57F5-D68576F52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8C21F1E-9E83-E338-99FF-4125591D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14/01/26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37AEF2A-B543-E478-04B5-E024C170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A32235E-7B62-ECE3-C923-08683B05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6708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EAE0DD-77C9-25B7-DE05-0D9EC2CE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17298E6-8BD6-EFB5-4B69-F82BDDF15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C2EADE8-218D-F814-4076-D81EBD89E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EA4A7D4-EF54-3B70-F72B-F94226071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14/01/26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46AE3CA-51E7-F8BC-4D27-960990E8D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C9F630D-0C07-2C5D-0C29-2854D9B7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057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EA96DB-253D-AABF-43AB-4192ECD4C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037A635-C506-6FBC-B8D5-D203C8E01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A8D3E8-0229-211A-F3A7-B95790E2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14/01/26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8EDADB-49E9-6603-EAE4-96E51DD62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2547740-5574-702C-85B6-0A59E250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4054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8E863B9-461C-2C23-04A1-E10605096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47368F0-8E6B-C581-D65A-06AED0234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F65738-F1AF-0310-2246-5E17893BE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14/01/26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9B9913-6EE7-83B9-FF83-501B893E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092494-401E-2B41-0514-76C5E5621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7020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02F1CE1-2C3B-451E-F750-DA322342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DFDED12-F5B5-FE65-565D-0DA9322B8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8A8EDD-713F-7FEE-8C16-7729E16E5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C3174-044B-B04A-A308-64051007116B}" type="datetimeFigureOut">
              <a:rPr lang="it-IT" smtClean="0"/>
              <a:t>14/01/26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DF8221-3BC4-86B0-7870-BA4F5A7DC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61447C7-6AB9-9DF0-79D0-5FA7AF169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545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ADFF3-27E1-EB1D-ED10-4D99D435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49E7F739-C4C0-B1D8-38D7-EC9605FF4A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6600" dirty="0">
                <a:solidFill>
                  <a:schemeClr val="tx1"/>
                </a:solidFill>
                <a:latin typeface="Cooper Black" panose="0208090404030B020404" pitchFamily="18" charset="77"/>
              </a:rPr>
              <a:t>Sappiamo davvero parlare con l’Intelligenza Artificiale?</a:t>
            </a:r>
          </a:p>
        </p:txBody>
      </p:sp>
    </p:spTree>
    <p:extLst>
      <p:ext uri="{BB962C8B-B14F-4D97-AF65-F5344CB8AC3E}">
        <p14:creationId xmlns:p14="http://schemas.microsoft.com/office/powerpoint/2010/main" val="3835872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C537448B-2694-28FB-63AE-6D09058185A1}"/>
              </a:ext>
            </a:extLst>
          </p:cNvPr>
          <p:cNvSpPr/>
          <p:nvPr/>
        </p:nvSpPr>
        <p:spPr>
          <a:xfrm>
            <a:off x="1079678" y="3429001"/>
            <a:ext cx="4108360" cy="17805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Cos’è la rete?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C278855-FE78-9764-6A6A-0AA316CAD601}"/>
              </a:ext>
            </a:extLst>
          </p:cNvPr>
          <p:cNvSpPr/>
          <p:nvPr/>
        </p:nvSpPr>
        <p:spPr>
          <a:xfrm>
            <a:off x="7003962" y="3429000"/>
            <a:ext cx="4108360" cy="17805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Cos’è la rete interent?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C9F2461-603D-1714-5930-BD1BB859A9C5}"/>
              </a:ext>
            </a:extLst>
          </p:cNvPr>
          <p:cNvSpPr txBox="1"/>
          <p:nvPr/>
        </p:nvSpPr>
        <p:spPr>
          <a:xfrm>
            <a:off x="590282" y="1160087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Voglio avere delle informazioni generali sul </a:t>
            </a:r>
          </a:p>
          <a:p>
            <a:pPr algn="ctr"/>
            <a:r>
              <a:rPr lang="it-IT" sz="2800" dirty="0"/>
              <a:t>funzionamento di internet.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DFCD4A9-C377-1F35-9072-59964CD736CF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213322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82899-040B-E06F-003F-73D833CBF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21E0D939-26C6-C63A-F841-B24E27887950}"/>
              </a:ext>
            </a:extLst>
          </p:cNvPr>
          <p:cNvSpPr/>
          <p:nvPr/>
        </p:nvSpPr>
        <p:spPr>
          <a:xfrm>
            <a:off x="1079678" y="3429001"/>
            <a:ext cx="4108360" cy="178050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Cos’è la rete?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D814D64-D380-CCDD-DA39-1BD9F137DABC}"/>
              </a:ext>
            </a:extLst>
          </p:cNvPr>
          <p:cNvSpPr/>
          <p:nvPr/>
        </p:nvSpPr>
        <p:spPr>
          <a:xfrm>
            <a:off x="7003962" y="3429000"/>
            <a:ext cx="4108360" cy="178050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Cos’è la rete interent?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AFFCD71-9DB0-C9A1-C415-F65EC85019B0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endParaRPr lang="it-IT" sz="2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8527070-7B05-6349-F447-875FA33A65E7}"/>
              </a:ext>
            </a:extLst>
          </p:cNvPr>
          <p:cNvSpPr txBox="1"/>
          <p:nvPr/>
        </p:nvSpPr>
        <p:spPr>
          <a:xfrm>
            <a:off x="590282" y="1160087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Voglio avere delle informazioni generali sul </a:t>
            </a:r>
          </a:p>
          <a:p>
            <a:pPr algn="ctr"/>
            <a:r>
              <a:rPr lang="it-IT" sz="2800" dirty="0"/>
              <a:t>funzionamento di internet.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</p:spTree>
    <p:extLst>
      <p:ext uri="{BB962C8B-B14F-4D97-AF65-F5344CB8AC3E}">
        <p14:creationId xmlns:p14="http://schemas.microsoft.com/office/powerpoint/2010/main" val="530267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8BEF5D7B-D2F5-D3A2-CD3F-8A26701A891C}"/>
              </a:ext>
            </a:extLst>
          </p:cNvPr>
          <p:cNvSpPr txBox="1"/>
          <p:nvPr/>
        </p:nvSpPr>
        <p:spPr>
          <a:xfrm>
            <a:off x="590282" y="1443841"/>
            <a:ext cx="110114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Il prompt deve essere </a:t>
            </a:r>
            <a:r>
              <a:rPr lang="it-IT" sz="2800" b="1" dirty="0"/>
              <a:t>chiaro e preciso</a:t>
            </a:r>
            <a:r>
              <a:rPr lang="it-IT" sz="2800" dirty="0"/>
              <a:t>, altrimenti l’IA può fraintendere e dare una risposta sbagliata, incompleta o diversa da quella che ci aspettavamo. 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Alcune parole possono avere più significati e se non specifichiamo cosa intendiamo, l’IA deve “indovinare”. 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Più dettagli diamo (argomento, contesto, tipo di risposta), migliore sarà il risultato.</a:t>
            </a:r>
            <a:endParaRPr lang="it-IT" sz="40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EC8662C-2328-FEB1-F57C-71DBF04E3559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723047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093EC-0896-8729-7F15-AA41D2078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4F539677-D5FA-3EE9-D62D-89E10D26C0C3}"/>
              </a:ext>
            </a:extLst>
          </p:cNvPr>
          <p:cNvSpPr/>
          <p:nvPr/>
        </p:nvSpPr>
        <p:spPr>
          <a:xfrm>
            <a:off x="783464" y="3221945"/>
            <a:ext cx="5005591" cy="289260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Spiegami le regole della pallavolo e il ruolo del libero.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F1CD5D3-85C6-6492-FC40-95DB121D53D6}"/>
              </a:ext>
            </a:extLst>
          </p:cNvPr>
          <p:cNvSpPr/>
          <p:nvPr/>
        </p:nvSpPr>
        <p:spPr>
          <a:xfrm>
            <a:off x="6192591" y="3203928"/>
            <a:ext cx="5409127" cy="29106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Vorrei avere una spiegazione completa, dettagliata e ampia delle regole della pallavolo maschile e femminile, con anche un approfondimento sul ruolo del libero.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BC17935-D9F1-707F-1AE0-89C3BC388131}"/>
              </a:ext>
            </a:extLst>
          </p:cNvPr>
          <p:cNvSpPr txBox="1"/>
          <p:nvPr/>
        </p:nvSpPr>
        <p:spPr>
          <a:xfrm>
            <a:off x="590282" y="1147085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Vorrei sapere quali sono le regole della pallavolo e come sia il ruolo del libero.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1D53287-D0C1-7AA0-8445-E90E58AF3F86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</a:t>
            </a:r>
          </a:p>
        </p:txBody>
      </p:sp>
    </p:spTree>
    <p:extLst>
      <p:ext uri="{BB962C8B-B14F-4D97-AF65-F5344CB8AC3E}">
        <p14:creationId xmlns:p14="http://schemas.microsoft.com/office/powerpoint/2010/main" val="4178612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E9702-0ED4-F819-9921-E7B0B1AD7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34BC0218-114D-FABC-674C-FDE9EF972FC1}"/>
              </a:ext>
            </a:extLst>
          </p:cNvPr>
          <p:cNvSpPr/>
          <p:nvPr/>
        </p:nvSpPr>
        <p:spPr>
          <a:xfrm>
            <a:off x="783464" y="3221945"/>
            <a:ext cx="5005591" cy="28926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Spiegami le regole della pallavolo e il ruolo del libero.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87395C7-C0FC-CF03-2CD6-56EC52E63D0E}"/>
              </a:ext>
            </a:extLst>
          </p:cNvPr>
          <p:cNvSpPr/>
          <p:nvPr/>
        </p:nvSpPr>
        <p:spPr>
          <a:xfrm>
            <a:off x="6192591" y="3203928"/>
            <a:ext cx="5409127" cy="291062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Vorrei avere una spiegazione completa, dettagliata e ampia delle regole della pallavolo maschile e femminile, con anche un approfondimento sul ruolo del libero.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480FB46-4E0B-FE3D-B2E3-D0559F80D845}"/>
              </a:ext>
            </a:extLst>
          </p:cNvPr>
          <p:cNvSpPr txBox="1"/>
          <p:nvPr/>
        </p:nvSpPr>
        <p:spPr>
          <a:xfrm>
            <a:off x="590282" y="1147085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Vorrei sapere quali sono le regole della pallavolo e come sia il ruolo del libero.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B914DBD-F4BC-DDD3-4F9F-C47E4A805C9C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</a:t>
            </a:r>
          </a:p>
        </p:txBody>
      </p:sp>
    </p:spTree>
    <p:extLst>
      <p:ext uri="{BB962C8B-B14F-4D97-AF65-F5344CB8AC3E}">
        <p14:creationId xmlns:p14="http://schemas.microsoft.com/office/powerpoint/2010/main" val="3393792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DD626-62B5-65FE-28B1-D28852601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1A3DEDD-B128-9E1D-F8E8-17C4A7AE231F}"/>
              </a:ext>
            </a:extLst>
          </p:cNvPr>
          <p:cNvSpPr txBox="1"/>
          <p:nvPr/>
        </p:nvSpPr>
        <p:spPr>
          <a:xfrm>
            <a:off x="590282" y="1626533"/>
            <a:ext cx="110114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Frasi troppo elaborate, richieste eccessivamente dettagliate o l’uso di termini inutilmente complessi rendono più difficile per l’IA capire qual è l’obiettivo principale della richiesta. </a:t>
            </a:r>
          </a:p>
          <a:p>
            <a:pPr algn="ctr"/>
            <a:r>
              <a:rPr lang="it-IT" sz="2800" dirty="0"/>
              <a:t>È meglio usare </a:t>
            </a:r>
            <a:r>
              <a:rPr lang="it-IT" sz="2800" b="1" dirty="0"/>
              <a:t>frasi dirette</a:t>
            </a:r>
            <a:r>
              <a:rPr lang="it-IT" sz="2800" dirty="0"/>
              <a:t>. 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Un altro problema comune è quando in un unico prompt si mescolano troppe domande o argomenti diversi. </a:t>
            </a:r>
          </a:p>
          <a:p>
            <a:pPr algn="ctr"/>
            <a:r>
              <a:rPr lang="it-IT" sz="2800" dirty="0"/>
              <a:t>In questi casi l’IA può rispondere in modo confuso o incompleto. È spesso meglio </a:t>
            </a:r>
            <a:r>
              <a:rPr lang="it-IT" sz="2800" b="1" dirty="0"/>
              <a:t>dividere una richiesta complessa in più prompt semplici</a:t>
            </a:r>
            <a:r>
              <a:rPr lang="it-IT" sz="2800" dirty="0"/>
              <a:t>, </a:t>
            </a:r>
            <a:r>
              <a:rPr lang="it-IT" sz="2800" b="1" dirty="0"/>
              <a:t>ciascuno con un obiettivo chiaro</a:t>
            </a:r>
            <a:r>
              <a:rPr lang="it-IT" sz="2800" dirty="0"/>
              <a:t>.</a:t>
            </a:r>
            <a:endParaRPr lang="it-IT" sz="40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277F7A7-0BD8-6ED5-C30B-858D3FF95AC5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</a:t>
            </a:r>
          </a:p>
        </p:txBody>
      </p:sp>
    </p:spTree>
    <p:extLst>
      <p:ext uri="{BB962C8B-B14F-4D97-AF65-F5344CB8AC3E}">
        <p14:creationId xmlns:p14="http://schemas.microsoft.com/office/powerpoint/2010/main" val="1284504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9DF26-9A63-8F09-ABC8-DD54243F6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9DF8EC89-5B4D-DE6B-B5CE-B1F88DF46E8D}"/>
              </a:ext>
            </a:extLst>
          </p:cNvPr>
          <p:cNvSpPr/>
          <p:nvPr/>
        </p:nvSpPr>
        <p:spPr>
          <a:xfrm>
            <a:off x="6370747" y="2975019"/>
            <a:ext cx="5230970" cy="325835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Spiegami in che modo il carico di lavoro degli studenti atleti deve essere distribuito settimanalmente per essere considerato ottimale in un contesto scolastico come quello della scuola superiore.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A4CE71A-A30C-BCCD-5980-A1932D802E69}"/>
              </a:ext>
            </a:extLst>
          </p:cNvPr>
          <p:cNvSpPr/>
          <p:nvPr/>
        </p:nvSpPr>
        <p:spPr>
          <a:xfrm>
            <a:off x="590283" y="2975019"/>
            <a:ext cx="5230968" cy="325835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Spiegami in che modo uno studente atleta dovrebbe gestire il carico di lavoro e di sport.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DB67922-26EA-1993-8632-C9EB1E14B6DF}"/>
              </a:ext>
            </a:extLst>
          </p:cNvPr>
          <p:cNvSpPr txBox="1"/>
          <p:nvPr/>
        </p:nvSpPr>
        <p:spPr>
          <a:xfrm>
            <a:off x="590282" y="1262995"/>
            <a:ext cx="110114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Devo fare una ricerca riguardo il ruolo dello studente atleta.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D87B7AA-42DB-82B5-D345-B07BC07487C2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</a:t>
            </a:r>
          </a:p>
        </p:txBody>
      </p:sp>
    </p:spTree>
    <p:extLst>
      <p:ext uri="{BB962C8B-B14F-4D97-AF65-F5344CB8AC3E}">
        <p14:creationId xmlns:p14="http://schemas.microsoft.com/office/powerpoint/2010/main" val="3094435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B299D-535A-4A78-AE90-6D5EB6D48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F310E467-28EF-5C73-8382-F4579D392B0E}"/>
              </a:ext>
            </a:extLst>
          </p:cNvPr>
          <p:cNvSpPr/>
          <p:nvPr/>
        </p:nvSpPr>
        <p:spPr>
          <a:xfrm>
            <a:off x="6370747" y="2975019"/>
            <a:ext cx="5230970" cy="325835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Spiegami in che modo il carico di lavoro degli studenti atleti deve essere distribuito settimanalmente per essere considerato ottimale in un contesto scolastico come quello della scuola superiore.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1D325895-8B09-4722-41B5-D6AB76E9E684}"/>
              </a:ext>
            </a:extLst>
          </p:cNvPr>
          <p:cNvSpPr/>
          <p:nvPr/>
        </p:nvSpPr>
        <p:spPr>
          <a:xfrm>
            <a:off x="590283" y="2975019"/>
            <a:ext cx="5230968" cy="325835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Spiegami in che modo uno studente atleta dovrebbe gestire il carico di lavoro e di sport.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D3AC68B-DE3B-F5E8-5490-8AD9778FDDDB}"/>
              </a:ext>
            </a:extLst>
          </p:cNvPr>
          <p:cNvSpPr txBox="1"/>
          <p:nvPr/>
        </p:nvSpPr>
        <p:spPr>
          <a:xfrm>
            <a:off x="590282" y="1262995"/>
            <a:ext cx="110114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Devo fare una ricerca riguardo il ruolo dello studente atleta.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946DE46-DE64-F071-4C63-1D9E27F132A7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</a:t>
            </a:r>
          </a:p>
        </p:txBody>
      </p:sp>
    </p:spTree>
    <p:extLst>
      <p:ext uri="{BB962C8B-B14F-4D97-AF65-F5344CB8AC3E}">
        <p14:creationId xmlns:p14="http://schemas.microsoft.com/office/powerpoint/2010/main" val="3993027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732BC-B8CE-D1E1-6CC6-8097212A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2C4CDCAC-F01B-98D8-979A-3C31DC0CC96F}"/>
              </a:ext>
            </a:extLst>
          </p:cNvPr>
          <p:cNvSpPr txBox="1"/>
          <p:nvPr/>
        </p:nvSpPr>
        <p:spPr>
          <a:xfrm>
            <a:off x="590282" y="1214409"/>
            <a:ext cx="1101143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Essere specifici aiuta l’IA a capire chiaramente cosa deve fare e su quale argomento concentrarsi. Tuttavia, fornire troppi dettagli può risultare controproducente: il modello può confondersi o produrre una risposta frammentata e poco coerente.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Essere specifici significa indicare chiaramente: l’</a:t>
            </a:r>
            <a:r>
              <a:rPr lang="it-IT" sz="2800" b="1" dirty="0"/>
              <a:t>obiettivo della richiesta</a:t>
            </a:r>
            <a:r>
              <a:rPr lang="it-IT" sz="2800" dirty="0"/>
              <a:t>, il </a:t>
            </a:r>
            <a:r>
              <a:rPr lang="it-IT" sz="2800" b="1" dirty="0"/>
              <a:t>contesto</a:t>
            </a:r>
            <a:r>
              <a:rPr lang="it-IT" sz="2800" dirty="0"/>
              <a:t> e l’</a:t>
            </a:r>
            <a:r>
              <a:rPr lang="it-IT" sz="2800" b="1" dirty="0"/>
              <a:t>aspetto principale </a:t>
            </a:r>
            <a:r>
              <a:rPr lang="it-IT" sz="2800" dirty="0"/>
              <a:t>su cui concentrarsi. </a:t>
            </a:r>
          </a:p>
          <a:p>
            <a:pPr algn="ctr"/>
            <a:endParaRPr lang="it-IT" sz="2800" dirty="0"/>
          </a:p>
          <a:p>
            <a:pPr algn="ctr"/>
            <a:r>
              <a:rPr lang="it-IT" sz="2800" b="1" dirty="0"/>
              <a:t>Evitare l’over-specificazione </a:t>
            </a:r>
            <a:r>
              <a:rPr lang="it-IT" sz="2800" dirty="0"/>
              <a:t>significa non trasformare il prompt in una lista eccessiva di vincoli, dati e sotto-compiti che limitano la capacità dell’IA di organizzare una risposta efficace o creativa.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A49CEC2-51CE-0591-04ED-A847800461A6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</a:t>
            </a:r>
          </a:p>
        </p:txBody>
      </p:sp>
    </p:spTree>
    <p:extLst>
      <p:ext uri="{BB962C8B-B14F-4D97-AF65-F5344CB8AC3E}">
        <p14:creationId xmlns:p14="http://schemas.microsoft.com/office/powerpoint/2010/main" val="3767142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4AB1C-2ED1-FD2A-110D-BC58DF95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C888B0BC-8C7A-E599-AAA3-47679081A19B}"/>
              </a:ext>
            </a:extLst>
          </p:cNvPr>
          <p:cNvSpPr/>
          <p:nvPr/>
        </p:nvSpPr>
        <p:spPr>
          <a:xfrm>
            <a:off x="590282" y="3317796"/>
            <a:ext cx="5230970" cy="26243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Fammi un discorso semplice su Napoleone.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C912BF1-3C26-019F-608A-5B4F867B4E47}"/>
              </a:ext>
            </a:extLst>
          </p:cNvPr>
          <p:cNvSpPr/>
          <p:nvPr/>
        </p:nvSpPr>
        <p:spPr>
          <a:xfrm>
            <a:off x="6370750" y="3317796"/>
            <a:ext cx="5230968" cy="26243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Spiegami cosa ha fatto Napoleone, come se fossi uno studente delle medie.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DD5D374-A146-5119-22CF-E443171DE7FA}"/>
              </a:ext>
            </a:extLst>
          </p:cNvPr>
          <p:cNvSpPr txBox="1"/>
          <p:nvPr/>
        </p:nvSpPr>
        <p:spPr>
          <a:xfrm>
            <a:off x="590282" y="1262995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Devo aiutare mia sorella di seconda media a fare una ricerca su Napoleone.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9A044CB-619C-9AA6-F597-32A29FEFFB40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</a:t>
            </a:r>
          </a:p>
        </p:txBody>
      </p:sp>
    </p:spTree>
    <p:extLst>
      <p:ext uri="{BB962C8B-B14F-4D97-AF65-F5344CB8AC3E}">
        <p14:creationId xmlns:p14="http://schemas.microsoft.com/office/powerpoint/2010/main" val="2468555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FE2BA-1D03-8E8E-8B3F-D21C7BBC8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C68E2F8E-FA1E-AD7A-9F9A-5406D643EDA8}"/>
              </a:ext>
            </a:extLst>
          </p:cNvPr>
          <p:cNvSpPr/>
          <p:nvPr/>
        </p:nvSpPr>
        <p:spPr>
          <a:xfrm>
            <a:off x="590282" y="3317796"/>
            <a:ext cx="5230970" cy="262431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Fammi un discorso semplice su Napoleone.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6996AB7-CAF2-6C04-F621-C185761CA688}"/>
              </a:ext>
            </a:extLst>
          </p:cNvPr>
          <p:cNvSpPr/>
          <p:nvPr/>
        </p:nvSpPr>
        <p:spPr>
          <a:xfrm>
            <a:off x="6370750" y="3317796"/>
            <a:ext cx="5230968" cy="26243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Spiegami cosa ha fatto Napoleone, come se fossi uno studente delle medie.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084390E-1B0E-1329-E5D0-37759132D661}"/>
              </a:ext>
            </a:extLst>
          </p:cNvPr>
          <p:cNvSpPr txBox="1"/>
          <p:nvPr/>
        </p:nvSpPr>
        <p:spPr>
          <a:xfrm>
            <a:off x="590282" y="1262995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Devo aiutare mia sorella di seconda media a fare una ricerca su Napoleone.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DD7EDE6-F8E4-A10D-6589-37D33D5AACD5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</a:t>
            </a:r>
          </a:p>
        </p:txBody>
      </p:sp>
    </p:spTree>
    <p:extLst>
      <p:ext uri="{BB962C8B-B14F-4D97-AF65-F5344CB8AC3E}">
        <p14:creationId xmlns:p14="http://schemas.microsoft.com/office/powerpoint/2010/main" val="2713532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E143A-10DB-0062-E5F1-42E845C1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A4ED9219-296D-A7A5-45CC-5706BAD720E3}"/>
              </a:ext>
            </a:extLst>
          </p:cNvPr>
          <p:cNvSpPr txBox="1"/>
          <p:nvPr/>
        </p:nvSpPr>
        <p:spPr>
          <a:xfrm>
            <a:off x="590282" y="1253045"/>
            <a:ext cx="1101143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Dare all’AI le informazioni di base necessarie per capire meglio la situazione e l’obiettivo della richiesta. Il </a:t>
            </a:r>
            <a:r>
              <a:rPr lang="it-IT" sz="2800" b="1" dirty="0"/>
              <a:t>contesto</a:t>
            </a:r>
            <a:r>
              <a:rPr lang="it-IT" sz="2800" dirty="0"/>
              <a:t> aiuta il modello a </a:t>
            </a:r>
            <a:r>
              <a:rPr lang="it-IT" sz="2800" b="1" dirty="0"/>
              <a:t>interpretare correttamente </a:t>
            </a:r>
            <a:r>
              <a:rPr lang="it-IT" sz="2800" dirty="0"/>
              <a:t>l’intento dell’utente e a produrre risposte più precise e adatte al caso specifico.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Senza contesto, l’IA può dare risposte corrette ma generiche, oppure interpretare male la richiesta.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Il contesto può riguardare: l’argomento specifico, il livello di conoscenza dell’utente,  il ruolo o la situazione dell’utente, il pubblico a cui è destinata la risposta o lo scopo della richiesta.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B54BDB7-E7EE-FAC7-EAD4-6237620DCA69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</a:t>
            </a:r>
          </a:p>
        </p:txBody>
      </p:sp>
    </p:spTree>
    <p:extLst>
      <p:ext uri="{BB962C8B-B14F-4D97-AF65-F5344CB8AC3E}">
        <p14:creationId xmlns:p14="http://schemas.microsoft.com/office/powerpoint/2010/main" val="4212030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522F4-3AAA-E490-A3B3-CF4343D57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959A2DC0-B85F-E0C7-8A10-7CC5DDC648F9}"/>
              </a:ext>
            </a:extLst>
          </p:cNvPr>
          <p:cNvSpPr/>
          <p:nvPr/>
        </p:nvSpPr>
        <p:spPr>
          <a:xfrm>
            <a:off x="590282" y="3317796"/>
            <a:ext cx="5230970" cy="26243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Scrivi una descrizione di un giorno di pioggia.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3412A82-1A97-B9E5-056B-3AD8CE331B5B}"/>
              </a:ext>
            </a:extLst>
          </p:cNvPr>
          <p:cNvSpPr/>
          <p:nvPr/>
        </p:nvSpPr>
        <p:spPr>
          <a:xfrm>
            <a:off x="6370750" y="3317796"/>
            <a:ext cx="5230968" cy="26243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Con questo stile: ‘Il sole tramontava tingendo il cielo di rosso.’ </a:t>
            </a:r>
          </a:p>
          <a:p>
            <a:pPr algn="ctr"/>
            <a:r>
              <a:rPr lang="it-IT" sz="2800" dirty="0">
                <a:solidFill>
                  <a:schemeClr val="tx1"/>
                </a:solidFill>
              </a:rPr>
              <a:t>Ora scrivi una descrizione simile di una giornata piovosa.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A9C23F5-DFBE-615A-3342-068985B69A60}"/>
              </a:ext>
            </a:extLst>
          </p:cNvPr>
          <p:cNvSpPr txBox="1"/>
          <p:nvPr/>
        </p:nvSpPr>
        <p:spPr>
          <a:xfrm>
            <a:off x="590282" y="1262995"/>
            <a:ext cx="110114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Devo scrivere una breve descrizione su una giornata di pioggia.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96B444A-07BF-32AA-788D-9D20AA2B6461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</a:t>
            </a:r>
          </a:p>
        </p:txBody>
      </p:sp>
    </p:spTree>
    <p:extLst>
      <p:ext uri="{BB962C8B-B14F-4D97-AF65-F5344CB8AC3E}">
        <p14:creationId xmlns:p14="http://schemas.microsoft.com/office/powerpoint/2010/main" val="2182366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38810-223E-28E1-8352-9C86F8809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14B791A-A158-B343-7ED8-9FE28651C8EA}"/>
              </a:ext>
            </a:extLst>
          </p:cNvPr>
          <p:cNvSpPr/>
          <p:nvPr/>
        </p:nvSpPr>
        <p:spPr>
          <a:xfrm>
            <a:off x="590282" y="3317796"/>
            <a:ext cx="5230970" cy="262431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Scrivi una descrizione di un giorno di pioggia.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764434D-9A5E-77A3-326B-21CF090FE230}"/>
              </a:ext>
            </a:extLst>
          </p:cNvPr>
          <p:cNvSpPr/>
          <p:nvPr/>
        </p:nvSpPr>
        <p:spPr>
          <a:xfrm>
            <a:off x="6370750" y="3317796"/>
            <a:ext cx="5230968" cy="26243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Con questo stile: ‘Il sole tramontava tingendo il cielo di rosso.’ </a:t>
            </a:r>
          </a:p>
          <a:p>
            <a:pPr algn="ctr"/>
            <a:r>
              <a:rPr lang="it-IT" sz="2800" dirty="0">
                <a:solidFill>
                  <a:schemeClr val="tx1"/>
                </a:solidFill>
              </a:rPr>
              <a:t>Ora scrivi una descrizione simile di una giornata piovosa.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04060E1-BD0E-FC98-8E1A-5544801BF5C4}"/>
              </a:ext>
            </a:extLst>
          </p:cNvPr>
          <p:cNvSpPr txBox="1"/>
          <p:nvPr/>
        </p:nvSpPr>
        <p:spPr>
          <a:xfrm>
            <a:off x="590282" y="1262995"/>
            <a:ext cx="110114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Devo scrivere una breve descrizione su una giornata di pioggia.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DD73D09-876A-49AD-4F2F-CF0B4D458ACB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</a:t>
            </a:r>
          </a:p>
        </p:txBody>
      </p:sp>
    </p:spTree>
    <p:extLst>
      <p:ext uri="{BB962C8B-B14F-4D97-AF65-F5344CB8AC3E}">
        <p14:creationId xmlns:p14="http://schemas.microsoft.com/office/powerpoint/2010/main" val="2006283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6287F-6B0A-BF42-D8A1-FB0D7C1A8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8383B836-BC43-5D7C-155D-08C4D8B62F1D}"/>
              </a:ext>
            </a:extLst>
          </p:cNvPr>
          <p:cNvSpPr txBox="1"/>
          <p:nvPr/>
        </p:nvSpPr>
        <p:spPr>
          <a:xfrm>
            <a:off x="590282" y="1412521"/>
            <a:ext cx="110114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Aiuta l’IA a capire che tipo di risposta ci aspettiamo. Gli esempi funzionano come un </a:t>
            </a:r>
            <a:r>
              <a:rPr lang="it-IT" sz="2800" b="1" dirty="0"/>
              <a:t>modello da imitare</a:t>
            </a:r>
            <a:r>
              <a:rPr lang="it-IT" sz="2800" dirty="0"/>
              <a:t>: mostrano il formato, il tono, il livello di dettaglio o lo stile desiderato.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Poiché l’IA è molto brava a riconoscere schemi, più esempi riceve, meglio riesce ad adattare la risposta a nuove situazioni simili.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Gli esempi riducono l’ambiguità e rendono più chiaro l’obiettivo del compito. Sono utili sia in contesti creativi (scrittura, stile narrativo) sia in contesti tecnici (riassunti, spiegazioni, procedure).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ECC049-6409-5A3E-AAFB-B0E6DBB6F59C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</a:t>
            </a:r>
          </a:p>
        </p:txBody>
      </p:sp>
    </p:spTree>
    <p:extLst>
      <p:ext uri="{BB962C8B-B14F-4D97-AF65-F5344CB8AC3E}">
        <p14:creationId xmlns:p14="http://schemas.microsoft.com/office/powerpoint/2010/main" val="1948050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11D8B-DAEE-6F2A-543D-9018CF75A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39281E5-647E-DA7E-82B2-758531DEDC45}"/>
              </a:ext>
            </a:extLst>
          </p:cNvPr>
          <p:cNvSpPr txBox="1"/>
          <p:nvPr/>
        </p:nvSpPr>
        <p:spPr>
          <a:xfrm>
            <a:off x="590282" y="784331"/>
            <a:ext cx="11011436" cy="5955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 dirty="0"/>
              <a:t>⚠️ 				⚠️</a:t>
            </a:r>
          </a:p>
          <a:p>
            <a:pPr algn="ctr"/>
            <a:r>
              <a:rPr lang="it-IT" sz="2300" dirty="0"/>
              <a:t>Il modello potrebbe replicare in modo troppo letterale lo stile o il formato dell’esempio. Esempi troppo pochi o troppo specifici possono restringere artificialmente lo spazio delle risposte possibili.</a:t>
            </a:r>
          </a:p>
          <a:p>
            <a:pPr algn="ctr"/>
            <a:endParaRPr lang="it-IT" sz="2300" dirty="0"/>
          </a:p>
          <a:p>
            <a:pPr algn="ctr"/>
            <a:r>
              <a:rPr lang="it-IT" sz="2300" dirty="0"/>
              <a:t>L’AI potrebbe cogliere pattern non intenzionali presenti negli esempi, come lunghezza, struttura o scelte lessicali non volute.</a:t>
            </a:r>
          </a:p>
          <a:p>
            <a:pPr algn="ctr"/>
            <a:endParaRPr lang="it-IT" sz="2300" dirty="0"/>
          </a:p>
          <a:p>
            <a:pPr algn="ctr"/>
            <a:r>
              <a:rPr lang="it-IT" sz="2300" b="1" dirty="0"/>
              <a:t>Quando usare gli esempi:</a:t>
            </a:r>
            <a:endParaRPr lang="it-IT" sz="2300" dirty="0"/>
          </a:p>
          <a:p>
            <a:pPr algn="ctr"/>
            <a:r>
              <a:rPr lang="it-IT" sz="2300" dirty="0"/>
              <a:t>Nei compiti creativi.</a:t>
            </a:r>
          </a:p>
          <a:p>
            <a:pPr algn="ctr"/>
            <a:r>
              <a:rPr lang="it-IT" sz="2300" dirty="0"/>
              <a:t>Quando il formato o lo stile della risposta è fondamentale.</a:t>
            </a:r>
          </a:p>
          <a:p>
            <a:pPr algn="ctr"/>
            <a:r>
              <a:rPr lang="it-IT" sz="2300" dirty="0"/>
              <a:t>Quando si vuole uniformare l’output (ad esempio molti riassunti simili).</a:t>
            </a:r>
          </a:p>
          <a:p>
            <a:pPr algn="ctr"/>
            <a:r>
              <a:rPr lang="it-IT" sz="2300" b="1" dirty="0"/>
              <a:t>Quando evitarli:</a:t>
            </a:r>
            <a:endParaRPr lang="it-IT" sz="2300" dirty="0"/>
          </a:p>
          <a:p>
            <a:pPr algn="ctr"/>
            <a:r>
              <a:rPr lang="it-IT" sz="2300" dirty="0"/>
              <a:t>Quando si vogliono esplorare soluzioni diverse.</a:t>
            </a:r>
          </a:p>
          <a:p>
            <a:pPr algn="ctr"/>
            <a:r>
              <a:rPr lang="it-IT" sz="2300" dirty="0"/>
              <a:t>Quando si cerca completezza o varietà di approcci.</a:t>
            </a:r>
          </a:p>
          <a:p>
            <a:pPr algn="ctr"/>
            <a:r>
              <a:rPr lang="it-IT" sz="2300" dirty="0"/>
              <a:t>Quando si desidera lasciare massima libertà interpretativa all’AI.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280A1CE-6517-AF45-268E-BC8F95D022CF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4E9F6C6-9BA5-E6C9-768F-2856E3A0F53E}"/>
              </a:ext>
            </a:extLst>
          </p:cNvPr>
          <p:cNvSpPr txBox="1"/>
          <p:nvPr/>
        </p:nvSpPr>
        <p:spPr>
          <a:xfrm>
            <a:off x="4391696" y="10431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90E8C94-888C-6449-65AC-E98DB4A2BBAD}"/>
              </a:ext>
            </a:extLst>
          </p:cNvPr>
          <p:cNvSpPr txBox="1"/>
          <p:nvPr/>
        </p:nvSpPr>
        <p:spPr>
          <a:xfrm>
            <a:off x="4563548" y="707057"/>
            <a:ext cx="31341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 dirty="0"/>
              <a:t>ATTENZIONE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99024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23AF-3D11-9A6F-FCFD-1B09776B4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2E962C6-A791-D84E-4B96-61FED68CA71B}"/>
              </a:ext>
            </a:extLst>
          </p:cNvPr>
          <p:cNvSpPr/>
          <p:nvPr/>
        </p:nvSpPr>
        <p:spPr>
          <a:xfrm>
            <a:off x="6370750" y="3317796"/>
            <a:ext cx="5230970" cy="26243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Descrivimi delle scarpe antinfortunistiche.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5EDFF59-3104-A190-80C9-95E1118D6B78}"/>
              </a:ext>
            </a:extLst>
          </p:cNvPr>
          <p:cNvSpPr/>
          <p:nvPr/>
        </p:nvSpPr>
        <p:spPr>
          <a:xfrm>
            <a:off x="590283" y="3317796"/>
            <a:ext cx="5230968" cy="26243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Descrive delle scarpe antinfortunistiche facendo capire che sono resistenti come un diamante.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5C568D6-8A27-DF8F-BE12-37ECA30F2FA8}"/>
              </a:ext>
            </a:extLst>
          </p:cNvPr>
          <p:cNvSpPr txBox="1"/>
          <p:nvPr/>
        </p:nvSpPr>
        <p:spPr>
          <a:xfrm>
            <a:off x="590282" y="1262995"/>
            <a:ext cx="110114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Devo scrivere la descrizione di un paio di scarpe antinfortunistiche.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F48664B-D4DB-2757-4347-EB682A170B1F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 – 5) Esempi </a:t>
            </a:r>
          </a:p>
        </p:txBody>
      </p:sp>
    </p:spTree>
    <p:extLst>
      <p:ext uri="{BB962C8B-B14F-4D97-AF65-F5344CB8AC3E}">
        <p14:creationId xmlns:p14="http://schemas.microsoft.com/office/powerpoint/2010/main" val="386430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51379-6496-C5EF-2904-0AC856696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845473B1-4537-5B09-F264-A618D7D2BCEB}"/>
              </a:ext>
            </a:extLst>
          </p:cNvPr>
          <p:cNvSpPr/>
          <p:nvPr/>
        </p:nvSpPr>
        <p:spPr>
          <a:xfrm>
            <a:off x="6370750" y="3317796"/>
            <a:ext cx="5230970" cy="262431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Descrivimi delle scarpe antinfortunistiche.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F027952-9B06-03FA-23A6-45B02C247E11}"/>
              </a:ext>
            </a:extLst>
          </p:cNvPr>
          <p:cNvSpPr/>
          <p:nvPr/>
        </p:nvSpPr>
        <p:spPr>
          <a:xfrm>
            <a:off x="590283" y="3317796"/>
            <a:ext cx="5230968" cy="26243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Descrive delle scarpe antinfortunistiche facendo capire che sono resistenti come un diamante.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2085511-FD05-C677-B7A9-94FB8E3174CF}"/>
              </a:ext>
            </a:extLst>
          </p:cNvPr>
          <p:cNvSpPr txBox="1"/>
          <p:nvPr/>
        </p:nvSpPr>
        <p:spPr>
          <a:xfrm>
            <a:off x="590282" y="1262995"/>
            <a:ext cx="110114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Devo scrivere la descrizione di un paio di scarpe antinfortunistiche.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486413B-249C-57FB-7980-847181C76E27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 – 5) Esempi </a:t>
            </a:r>
          </a:p>
        </p:txBody>
      </p:sp>
    </p:spTree>
    <p:extLst>
      <p:ext uri="{BB962C8B-B14F-4D97-AF65-F5344CB8AC3E}">
        <p14:creationId xmlns:p14="http://schemas.microsoft.com/office/powerpoint/2010/main" val="3615999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8A207-A97C-7F35-F56F-D33EFDCA6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5DCEBE1-D5F4-7E1A-EAA2-B4F8D6054105}"/>
              </a:ext>
            </a:extLst>
          </p:cNvPr>
          <p:cNvSpPr txBox="1"/>
          <p:nvPr/>
        </p:nvSpPr>
        <p:spPr>
          <a:xfrm>
            <a:off x="590282" y="1012411"/>
            <a:ext cx="1101143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Spiegare o descrivere qualcosa facendolo assomigliare a qualcosa di già noto. Le </a:t>
            </a:r>
            <a:r>
              <a:rPr lang="it-IT" sz="2800" b="1" dirty="0"/>
              <a:t>analogie</a:t>
            </a:r>
            <a:r>
              <a:rPr lang="it-IT" sz="2800" dirty="0"/>
              <a:t> </a:t>
            </a:r>
            <a:r>
              <a:rPr lang="it-IT" sz="2800" b="1" dirty="0"/>
              <a:t>aiutano l’IA a cogliere meglio concetti astratti</a:t>
            </a:r>
            <a:r>
              <a:rPr lang="it-IT" sz="2800" dirty="0"/>
              <a:t>, stili o atmosfere, perché collegano l’ignoto a un riferimento familiare.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In un prompt, un’analogia fornisce un contesto implicito molto forte: suggerisce tono, emozione, struttura o caratteristiche senza doverle elencare tutte. Questo rende la richiesta più efficace e orienta la risposta in modo naturale.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Le analogie sono particolarmente utili per: scrittura creativa, descrizioni, concetti astratti o complessi oppure comunicazione evocativa.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D95F5B0-4831-4325-FC54-62E16F59EB0A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 – 5) Esempi </a:t>
            </a:r>
          </a:p>
        </p:txBody>
      </p:sp>
    </p:spTree>
    <p:extLst>
      <p:ext uri="{BB962C8B-B14F-4D97-AF65-F5344CB8AC3E}">
        <p14:creationId xmlns:p14="http://schemas.microsoft.com/office/powerpoint/2010/main" val="2163562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16722-7E13-8714-1151-EEE7B4E9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CEF7EEC8-176F-2E96-7DB7-FCD5F57461A5}"/>
              </a:ext>
            </a:extLst>
          </p:cNvPr>
          <p:cNvSpPr/>
          <p:nvPr/>
        </p:nvSpPr>
        <p:spPr>
          <a:xfrm>
            <a:off x="6370750" y="3317796"/>
            <a:ext cx="5230970" cy="26243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Quali sono le differenze tra il sistema di coltivazione a terrazze e quella a rotazione?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AEFE2BF-9FB8-29AE-F148-FB5B0CF2A1EB}"/>
              </a:ext>
            </a:extLst>
          </p:cNvPr>
          <p:cNvSpPr/>
          <p:nvPr/>
        </p:nvSpPr>
        <p:spPr>
          <a:xfrm>
            <a:off x="590283" y="3317796"/>
            <a:ext cx="5230968" cy="26243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Confronta il sistema di coltivazione a terrazze e quello a rotazione.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244CC92-0166-9ED3-766E-BBE99711701D}"/>
              </a:ext>
            </a:extLst>
          </p:cNvPr>
          <p:cNvSpPr txBox="1"/>
          <p:nvPr/>
        </p:nvSpPr>
        <p:spPr>
          <a:xfrm>
            <a:off x="590282" y="1262995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Voglio capire le differenze che ci sono tra la coltivazione a terrazze e quella a rotazione.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4DBC9B4-D069-B2BB-A3CD-3C5F1FED3C00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 – 5) Esempi – 6) Analogie</a:t>
            </a:r>
          </a:p>
        </p:txBody>
      </p:sp>
    </p:spTree>
    <p:extLst>
      <p:ext uri="{BB962C8B-B14F-4D97-AF65-F5344CB8AC3E}">
        <p14:creationId xmlns:p14="http://schemas.microsoft.com/office/powerpoint/2010/main" val="2838794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AAE7D-9925-1721-889C-D8B5F249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2B00D10D-6578-B25B-CB48-DEFD13B227A8}"/>
              </a:ext>
            </a:extLst>
          </p:cNvPr>
          <p:cNvSpPr/>
          <p:nvPr/>
        </p:nvSpPr>
        <p:spPr>
          <a:xfrm>
            <a:off x="6370750" y="3317796"/>
            <a:ext cx="5230970" cy="262431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Quali sono le differenze tra il sistema di coltivazione a terrazze e quella a rotazione?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43BAD62-9C4D-AD03-275F-AB8602479423}"/>
              </a:ext>
            </a:extLst>
          </p:cNvPr>
          <p:cNvSpPr/>
          <p:nvPr/>
        </p:nvSpPr>
        <p:spPr>
          <a:xfrm>
            <a:off x="590283" y="3317796"/>
            <a:ext cx="5230968" cy="26243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Confronta il sistema di coltivazione a terrazze e quello a rotazione.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2876323-4267-A761-F726-A56C329F2CCB}"/>
              </a:ext>
            </a:extLst>
          </p:cNvPr>
          <p:cNvSpPr txBox="1"/>
          <p:nvPr/>
        </p:nvSpPr>
        <p:spPr>
          <a:xfrm>
            <a:off x="590282" y="1262995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Voglio capire le differenze che ci sono tra la coltivazione a terrazze e quella a rotazione.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0237FA2-2810-BCAB-9B34-F43AF9587E9A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 – 5) Esempi – 6) Analogie</a:t>
            </a:r>
          </a:p>
        </p:txBody>
      </p:sp>
    </p:spTree>
    <p:extLst>
      <p:ext uri="{BB962C8B-B14F-4D97-AF65-F5344CB8AC3E}">
        <p14:creationId xmlns:p14="http://schemas.microsoft.com/office/powerpoint/2010/main" val="4092734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6A33C-960D-54A0-6C68-EC8E948C3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2385A314-31C7-C22B-7841-440F77F34D35}"/>
              </a:ext>
            </a:extLst>
          </p:cNvPr>
          <p:cNvSpPr txBox="1"/>
          <p:nvPr/>
        </p:nvSpPr>
        <p:spPr>
          <a:xfrm>
            <a:off x="590282" y="1051048"/>
            <a:ext cx="1101143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Iniziare la richiesta con un </a:t>
            </a:r>
            <a:r>
              <a:rPr lang="it-IT" sz="2800" b="1" dirty="0"/>
              <a:t>verbo chiaro che indichi esattamente cosa deve fare l’IA</a:t>
            </a:r>
            <a:r>
              <a:rPr lang="it-IT" sz="2800" dirty="0"/>
              <a:t>. I verbi d’azione rendono il compito esplicito e orientano subito il tipo di risposta attesa.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Verbi diversi portano a risposte diverse: alcuni richiedono analisi, altri spiegazioni mentre altri ancora creatività o valutazioni.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Scegliere il verbo giusto aiuta a evitare ambiguità e a ottenere risposte più pertinenti e mirate.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Alcuni esempi di verbi utili sono: analizza, confronta, descrivi, spiega, valuta, riassumi, crea, identifica e prevedi.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1F58AE8-EA43-784D-EE23-0715BA8795B6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 – 5) Esempi – 6) Analogie</a:t>
            </a:r>
          </a:p>
        </p:txBody>
      </p:sp>
    </p:spTree>
    <p:extLst>
      <p:ext uri="{BB962C8B-B14F-4D97-AF65-F5344CB8AC3E}">
        <p14:creationId xmlns:p14="http://schemas.microsoft.com/office/powerpoint/2010/main" val="3323522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2229A-BF7D-56F8-9A7F-3FF22F917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109CF1B6-6161-1D4A-3408-DC1CF1FE4198}"/>
              </a:ext>
            </a:extLst>
          </p:cNvPr>
          <p:cNvSpPr/>
          <p:nvPr/>
        </p:nvSpPr>
        <p:spPr>
          <a:xfrm>
            <a:off x="6370750" y="3317796"/>
            <a:ext cx="5230970" cy="26243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Costruisci un elenco puntato sulle fasi del metabolismo, con una breve spiegazione per ogni punto.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951566D-BA83-7207-8770-4421B819E222}"/>
              </a:ext>
            </a:extLst>
          </p:cNvPr>
          <p:cNvSpPr/>
          <p:nvPr/>
        </p:nvSpPr>
        <p:spPr>
          <a:xfrm>
            <a:off x="590283" y="3317796"/>
            <a:ext cx="5230968" cy="26243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Riassumi le fasi del metabolismo.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DDBB5DD-D496-3F58-133B-903FB73A9B5A}"/>
              </a:ext>
            </a:extLst>
          </p:cNvPr>
          <p:cNvSpPr txBox="1"/>
          <p:nvPr/>
        </p:nvSpPr>
        <p:spPr>
          <a:xfrm>
            <a:off x="590282" y="1104485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Ho bisogno di riassumere in modo schematico i concetti riguardo il metabolismo e le sue fasi.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550CCC7-B678-E731-5509-D3B5ADD489A0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 – 5) Esempi – 6) Analogie – 7) Verbi adatti</a:t>
            </a:r>
          </a:p>
        </p:txBody>
      </p:sp>
    </p:spTree>
    <p:extLst>
      <p:ext uri="{BB962C8B-B14F-4D97-AF65-F5344CB8AC3E}">
        <p14:creationId xmlns:p14="http://schemas.microsoft.com/office/powerpoint/2010/main" val="2251291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D6D15-4018-E30B-83F0-D92A7B13E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E289BADD-E21F-3639-7534-81DB32C82933}"/>
              </a:ext>
            </a:extLst>
          </p:cNvPr>
          <p:cNvSpPr/>
          <p:nvPr/>
        </p:nvSpPr>
        <p:spPr>
          <a:xfrm>
            <a:off x="6370750" y="3317796"/>
            <a:ext cx="5230970" cy="26243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Costruisci un elenco puntato sulle fasi del metabolismo, con una breve spiegazione per ogni punto.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5A0EC62-12C7-464F-08DF-4F2F92BA1517}"/>
              </a:ext>
            </a:extLst>
          </p:cNvPr>
          <p:cNvSpPr/>
          <p:nvPr/>
        </p:nvSpPr>
        <p:spPr>
          <a:xfrm>
            <a:off x="590283" y="3317796"/>
            <a:ext cx="5230968" cy="262431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Riassumi le fasi del metabolismo.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21CADBA-0444-B8F4-90DC-69D8606C0A20}"/>
              </a:ext>
            </a:extLst>
          </p:cNvPr>
          <p:cNvSpPr txBox="1"/>
          <p:nvPr/>
        </p:nvSpPr>
        <p:spPr>
          <a:xfrm>
            <a:off x="590282" y="1104485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Ho bisogno di riassumere in modo schematico i concetti riguardo il metabolismo e le sue fasi.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8E8D4A1-75DD-FE73-6831-FC306FB27D8A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 – 5) Esempi – 6) Analogie – 7) Verbi adatti</a:t>
            </a:r>
          </a:p>
        </p:txBody>
      </p:sp>
    </p:spTree>
    <p:extLst>
      <p:ext uri="{BB962C8B-B14F-4D97-AF65-F5344CB8AC3E}">
        <p14:creationId xmlns:p14="http://schemas.microsoft.com/office/powerpoint/2010/main" val="666343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ED4D-C6B8-4A1E-16E2-D0729074C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021A9AF2-BA32-A844-DB08-888D84FC0E3D}"/>
              </a:ext>
            </a:extLst>
          </p:cNvPr>
          <p:cNvSpPr txBox="1"/>
          <p:nvPr/>
        </p:nvSpPr>
        <p:spPr>
          <a:xfrm>
            <a:off x="590282" y="960218"/>
            <a:ext cx="1101143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700" dirty="0"/>
              <a:t>Dire chiaramente </a:t>
            </a:r>
            <a:r>
              <a:rPr lang="it-IT" sz="2700" b="1" dirty="0"/>
              <a:t>come deve essere presentata la risposta</a:t>
            </a:r>
            <a:r>
              <a:rPr lang="it-IT" sz="2700" dirty="0"/>
              <a:t>, non solo cosa deve contenere. Indicare struttura, lunghezza, stile o tono aiuta l’IA a organizzare meglio le informazioni e a fornire un risultato immediatamente utilizzabile.</a:t>
            </a:r>
          </a:p>
          <a:p>
            <a:pPr algn="ctr"/>
            <a:endParaRPr lang="it-IT" sz="2700" dirty="0"/>
          </a:p>
          <a:p>
            <a:pPr algn="ctr"/>
            <a:r>
              <a:rPr lang="it-IT" sz="2700" dirty="0"/>
              <a:t>Quando il formato non è specificato, l’IA può comunque rispondere correttamente, ma in un modo che potrebbe non essere adatto allo scopo dell’utente. Definendo il formato, si riduce la necessità di correzioni successive e si rende l’interazione più efficiente.</a:t>
            </a:r>
          </a:p>
          <a:p>
            <a:pPr algn="ctr"/>
            <a:endParaRPr lang="it-IT" sz="2700" dirty="0"/>
          </a:p>
          <a:p>
            <a:pPr algn="ctr"/>
            <a:r>
              <a:rPr lang="it-IT" sz="2700" dirty="0"/>
              <a:t>Il formato può riguardare: </a:t>
            </a:r>
            <a:r>
              <a:rPr lang="it-IT" sz="2700" b="1" dirty="0"/>
              <a:t>struttura</a:t>
            </a:r>
            <a:r>
              <a:rPr lang="it-IT" sz="2700" dirty="0"/>
              <a:t> (elenco puntato, testo discorsivo, tabella), </a:t>
            </a:r>
            <a:r>
              <a:rPr lang="it-IT" sz="2700" b="1" dirty="0"/>
              <a:t>lunghezza</a:t>
            </a:r>
            <a:r>
              <a:rPr lang="it-IT" sz="2700" dirty="0"/>
              <a:t>, </a:t>
            </a:r>
            <a:r>
              <a:rPr lang="it-IT" sz="2700" b="1" dirty="0"/>
              <a:t>stile o tono </a:t>
            </a:r>
            <a:r>
              <a:rPr lang="it-IT" sz="2700" dirty="0"/>
              <a:t>(formale, informale, tecnico) e </a:t>
            </a:r>
            <a:r>
              <a:rPr lang="it-IT" sz="2700" b="1" dirty="0"/>
              <a:t>tipo di contenuto </a:t>
            </a:r>
            <a:r>
              <a:rPr lang="it-IT" sz="2700" dirty="0"/>
              <a:t>(riassunto, lettera, codice, poesia).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052CA9E-5961-51A6-7594-F6C622AC88FA}"/>
              </a:ext>
            </a:extLst>
          </p:cNvPr>
          <p:cNvSpPr txBox="1"/>
          <p:nvPr/>
        </p:nvSpPr>
        <p:spPr>
          <a:xfrm>
            <a:off x="0" y="306947"/>
            <a:ext cx="12192000" cy="400110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 – 5) Esempi – 6) Analogie – 7) Verbi adatti</a:t>
            </a:r>
          </a:p>
        </p:txBody>
      </p:sp>
    </p:spTree>
    <p:extLst>
      <p:ext uri="{BB962C8B-B14F-4D97-AF65-F5344CB8AC3E}">
        <p14:creationId xmlns:p14="http://schemas.microsoft.com/office/powerpoint/2010/main" val="3611033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D2461-D7AA-1BE3-09BE-0EDB18B68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E306F828-FCFD-729C-3B1F-E7850EABB057}"/>
              </a:ext>
            </a:extLst>
          </p:cNvPr>
          <p:cNvSpPr/>
          <p:nvPr/>
        </p:nvSpPr>
        <p:spPr>
          <a:xfrm>
            <a:off x="6370749" y="3253402"/>
            <a:ext cx="5230970" cy="26243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Che cosa mi succede se uso il telefono alla guida secondo la legge 25 novembre 2024, n. 177?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20C38AA-095E-03DD-E59D-C9710340500A}"/>
              </a:ext>
            </a:extLst>
          </p:cNvPr>
          <p:cNvSpPr/>
          <p:nvPr/>
        </p:nvSpPr>
        <p:spPr>
          <a:xfrm>
            <a:off x="590282" y="3253402"/>
            <a:ext cx="5230968" cy="26243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Se uso il telefono mentre guido che cosa mi succede?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D90BED9-0CD2-A081-967E-918609231772}"/>
              </a:ext>
            </a:extLst>
          </p:cNvPr>
          <p:cNvSpPr txBox="1"/>
          <p:nvPr/>
        </p:nvSpPr>
        <p:spPr>
          <a:xfrm>
            <a:off x="590282" y="1361404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Sono un avvocato e voglio sapere che pena rischio se uso il telefono mentre guido.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40EC6B7-40D3-F4B7-9AAB-8A1A153F342E}"/>
              </a:ext>
            </a:extLst>
          </p:cNvPr>
          <p:cNvSpPr txBox="1"/>
          <p:nvPr/>
        </p:nvSpPr>
        <p:spPr>
          <a:xfrm>
            <a:off x="0" y="306947"/>
            <a:ext cx="12192000" cy="707886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 – 5) Esempi – 6) Analogie – 7) Verbi adatti – </a:t>
            </a:r>
          </a:p>
          <a:p>
            <a:r>
              <a:rPr lang="it-IT" sz="2000" b="1" dirty="0"/>
              <a:t>8) Formato della risposta </a:t>
            </a:r>
          </a:p>
        </p:txBody>
      </p:sp>
    </p:spTree>
    <p:extLst>
      <p:ext uri="{BB962C8B-B14F-4D97-AF65-F5344CB8AC3E}">
        <p14:creationId xmlns:p14="http://schemas.microsoft.com/office/powerpoint/2010/main" val="1309717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13BC-0B3F-4BE1-0F12-7B6B5225E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6221D11F-C6D6-6805-036C-5762F8786167}"/>
              </a:ext>
            </a:extLst>
          </p:cNvPr>
          <p:cNvSpPr/>
          <p:nvPr/>
        </p:nvSpPr>
        <p:spPr>
          <a:xfrm>
            <a:off x="6370749" y="3253402"/>
            <a:ext cx="5230970" cy="26243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Che cosa mi succede se uso il telefono alla guida secondo la legge 25 novembre 2024, n. 177?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22C331C-CF2B-FA3C-E7C4-9B8BC2147018}"/>
              </a:ext>
            </a:extLst>
          </p:cNvPr>
          <p:cNvSpPr/>
          <p:nvPr/>
        </p:nvSpPr>
        <p:spPr>
          <a:xfrm>
            <a:off x="590282" y="3253402"/>
            <a:ext cx="5230968" cy="262431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Se uso il telefono mentre guido che cosa mi succede?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DDFFB20-2D4F-B1AA-6BE4-C80A8C17EB30}"/>
              </a:ext>
            </a:extLst>
          </p:cNvPr>
          <p:cNvSpPr txBox="1"/>
          <p:nvPr/>
        </p:nvSpPr>
        <p:spPr>
          <a:xfrm>
            <a:off x="590282" y="1361404"/>
            <a:ext cx="110114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Voglio sapere che pena rischio se uso il telefono mentre guido.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75EB9A8-C849-A132-1278-20E0994FF45F}"/>
              </a:ext>
            </a:extLst>
          </p:cNvPr>
          <p:cNvSpPr txBox="1"/>
          <p:nvPr/>
        </p:nvSpPr>
        <p:spPr>
          <a:xfrm>
            <a:off x="0" y="306947"/>
            <a:ext cx="12192000" cy="707886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 – 5) Esempi – 6) Analogie – 7) Verbi adatti – </a:t>
            </a:r>
          </a:p>
          <a:p>
            <a:r>
              <a:rPr lang="it-IT" sz="2000" b="1" dirty="0"/>
              <a:t>8) Formato della risposta </a:t>
            </a:r>
          </a:p>
        </p:txBody>
      </p:sp>
    </p:spTree>
    <p:extLst>
      <p:ext uri="{BB962C8B-B14F-4D97-AF65-F5344CB8AC3E}">
        <p14:creationId xmlns:p14="http://schemas.microsoft.com/office/powerpoint/2010/main" val="3086443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BEDF2-A298-9CE6-C5E1-700C4CA0C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6E27306-1D88-981F-206E-04D5141DA2FE}"/>
              </a:ext>
            </a:extLst>
          </p:cNvPr>
          <p:cNvSpPr txBox="1"/>
          <p:nvPr/>
        </p:nvSpPr>
        <p:spPr>
          <a:xfrm>
            <a:off x="590282" y="1398100"/>
            <a:ext cx="1101143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Incorporare la conoscenza di dominio significa usare terminologia e concetti specifici di un settore all’interno del prompt. Questo aiuta l’IA a capire il livello di competenza richiesto e a fornire risposte più accurate.</a:t>
            </a:r>
          </a:p>
          <a:p>
            <a:pPr algn="ctr"/>
            <a:endParaRPr lang="it-IT" sz="3200" dirty="0"/>
          </a:p>
          <a:p>
            <a:pPr algn="ctr"/>
            <a:r>
              <a:rPr lang="it-IT" sz="3200" dirty="0"/>
              <a:t>L’uso di </a:t>
            </a:r>
            <a:r>
              <a:rPr lang="it-IT" sz="3200" b="1" dirty="0"/>
              <a:t>termini tecnici riduce l’ambiguità </a:t>
            </a:r>
            <a:r>
              <a:rPr lang="it-IT" sz="3200" dirty="0"/>
              <a:t>e segnala all’IA che la risposta deve essere contestualizzata in un ambito specifico. </a:t>
            </a:r>
          </a:p>
          <a:p>
            <a:pPr algn="ctr"/>
            <a:r>
              <a:rPr lang="it-IT" sz="3200" dirty="0"/>
              <a:t>In questo modo, l’output sarà più mirato e utile per chi opera in quel settore.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DB7383D-62DA-C757-A2E2-6300AF3FC4A4}"/>
              </a:ext>
            </a:extLst>
          </p:cNvPr>
          <p:cNvSpPr txBox="1"/>
          <p:nvPr/>
        </p:nvSpPr>
        <p:spPr>
          <a:xfrm>
            <a:off x="0" y="306947"/>
            <a:ext cx="12192000" cy="707886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 – 5) Esempi – 6) Analogie – 7) Verbi adatti – </a:t>
            </a:r>
          </a:p>
          <a:p>
            <a:r>
              <a:rPr lang="it-IT" sz="2000" b="1" dirty="0"/>
              <a:t>8) Formato della risposta </a:t>
            </a:r>
          </a:p>
        </p:txBody>
      </p:sp>
    </p:spTree>
    <p:extLst>
      <p:ext uri="{BB962C8B-B14F-4D97-AF65-F5344CB8AC3E}">
        <p14:creationId xmlns:p14="http://schemas.microsoft.com/office/powerpoint/2010/main" val="37950487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84199-CB8B-C663-7EDE-4FFBD5BB0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128829E7-AA76-45BD-F001-EEE38465AC4D}"/>
              </a:ext>
            </a:extLst>
          </p:cNvPr>
          <p:cNvSpPr/>
          <p:nvPr/>
        </p:nvSpPr>
        <p:spPr>
          <a:xfrm>
            <a:off x="590280" y="3483735"/>
            <a:ext cx="5230970" cy="26243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Perché dovrei scegliere Ibiza come meta per le vacanze?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3703EB7-204D-2CC3-6671-D5B3C15149FA}"/>
              </a:ext>
            </a:extLst>
          </p:cNvPr>
          <p:cNvSpPr/>
          <p:nvPr/>
        </p:nvSpPr>
        <p:spPr>
          <a:xfrm>
            <a:off x="6370752" y="3483735"/>
            <a:ext cx="5230968" cy="26243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Descrivi come Ibiza sia la miglior meta per le vacanze estive.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83A30B8-4DC8-B8E8-1089-EC41B28B8195}"/>
              </a:ext>
            </a:extLst>
          </p:cNvPr>
          <p:cNvSpPr txBox="1"/>
          <p:nvPr/>
        </p:nvSpPr>
        <p:spPr>
          <a:xfrm>
            <a:off x="590282" y="1226176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Voglio avere un testo pronto da leggere, per convincere il mio amico che la scelta migliore per le vacanze è Ibiza.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CABADFE-EB28-4CBF-8277-14FC30B6CA52}"/>
              </a:ext>
            </a:extLst>
          </p:cNvPr>
          <p:cNvSpPr txBox="1"/>
          <p:nvPr/>
        </p:nvSpPr>
        <p:spPr>
          <a:xfrm>
            <a:off x="0" y="306947"/>
            <a:ext cx="12192000" cy="707886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 – 5) Esempi – 6) Analogie – 7) Verbi adatti – </a:t>
            </a:r>
          </a:p>
          <a:p>
            <a:r>
              <a:rPr lang="it-IT" sz="2000" b="1" dirty="0"/>
              <a:t>8) Formato della risposta – 9) Termini tecnici </a:t>
            </a:r>
          </a:p>
        </p:txBody>
      </p:sp>
    </p:spTree>
    <p:extLst>
      <p:ext uri="{BB962C8B-B14F-4D97-AF65-F5344CB8AC3E}">
        <p14:creationId xmlns:p14="http://schemas.microsoft.com/office/powerpoint/2010/main" val="665516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DBE35-17A1-6486-7163-F08704826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E912DC84-5FC8-0E5B-6672-51EA77C383A2}"/>
              </a:ext>
            </a:extLst>
          </p:cNvPr>
          <p:cNvSpPr/>
          <p:nvPr/>
        </p:nvSpPr>
        <p:spPr>
          <a:xfrm>
            <a:off x="590282" y="3483735"/>
            <a:ext cx="5230970" cy="26243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Perché dovrei scegliere Ibiza come meta per le vacanze?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8499F44-AD5C-0569-3FFE-9F0E1F60AD8C}"/>
              </a:ext>
            </a:extLst>
          </p:cNvPr>
          <p:cNvSpPr/>
          <p:nvPr/>
        </p:nvSpPr>
        <p:spPr>
          <a:xfrm>
            <a:off x="6370750" y="3483735"/>
            <a:ext cx="5230968" cy="262431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Descrivi come Ibiza sia la miglior meta per le vacanze estive.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4E7BBF3-32BC-BA5B-439E-C3DFFE08FD32}"/>
              </a:ext>
            </a:extLst>
          </p:cNvPr>
          <p:cNvSpPr txBox="1"/>
          <p:nvPr/>
        </p:nvSpPr>
        <p:spPr>
          <a:xfrm>
            <a:off x="590282" y="1226176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Voglio avere un testo pronto da leggere, per convincere il mio amico che la scelta migliore per le vacanze è Ibiza.</a:t>
            </a:r>
          </a:p>
          <a:p>
            <a:pPr algn="ctr"/>
            <a:r>
              <a:rPr lang="it-IT" sz="2800" dirty="0"/>
              <a:t> </a:t>
            </a:r>
          </a:p>
          <a:p>
            <a:pPr algn="ctr"/>
            <a:r>
              <a:rPr lang="it-IT" sz="2800" dirty="0"/>
              <a:t>Qual è la miglior domanda da porre all’IA?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B04A857-D135-E2A0-F67C-39350171EF9C}"/>
              </a:ext>
            </a:extLst>
          </p:cNvPr>
          <p:cNvSpPr txBox="1"/>
          <p:nvPr/>
        </p:nvSpPr>
        <p:spPr>
          <a:xfrm>
            <a:off x="0" y="306947"/>
            <a:ext cx="12192000" cy="707886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 – 5) Esempi – 6) Analogie – 7) Verbi adatti – </a:t>
            </a:r>
          </a:p>
          <a:p>
            <a:r>
              <a:rPr lang="it-IT" sz="2000" b="1" dirty="0"/>
              <a:t>8) Formato della risposta – 9) Termini tecnici </a:t>
            </a:r>
          </a:p>
        </p:txBody>
      </p:sp>
    </p:spTree>
    <p:extLst>
      <p:ext uri="{BB962C8B-B14F-4D97-AF65-F5344CB8AC3E}">
        <p14:creationId xmlns:p14="http://schemas.microsoft.com/office/powerpoint/2010/main" val="283861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E74D7-45B3-205B-0450-30EB19FBB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0C56CBB-5C60-5B75-53EF-EDD002F8D86E}"/>
              </a:ext>
            </a:extLst>
          </p:cNvPr>
          <p:cNvSpPr txBox="1"/>
          <p:nvPr/>
        </p:nvSpPr>
        <p:spPr>
          <a:xfrm>
            <a:off x="590282" y="1398100"/>
            <a:ext cx="1101143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Fare domande dirette significa porre quesiti neutre e chiare, senza suggerire una risposta implicita. Le domande dirette aiutano l’IA a fornire risposte più </a:t>
            </a:r>
            <a:r>
              <a:rPr lang="it-IT" sz="2800" b="1" dirty="0"/>
              <a:t>obiettive e affidabili</a:t>
            </a:r>
            <a:r>
              <a:rPr lang="it-IT" sz="2800" dirty="0"/>
              <a:t>.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Le domande tendenziose (</a:t>
            </a:r>
            <a:r>
              <a:rPr lang="it-IT" sz="2800" dirty="0" err="1"/>
              <a:t>leading</a:t>
            </a:r>
            <a:r>
              <a:rPr lang="it-IT" sz="2800" dirty="0"/>
              <a:t> </a:t>
            </a:r>
            <a:r>
              <a:rPr lang="it-IT" sz="2800" dirty="0" err="1"/>
              <a:t>questions</a:t>
            </a:r>
            <a:r>
              <a:rPr lang="it-IT" sz="2800" dirty="0"/>
              <a:t>), invece spingono l’IA verso una risposta predefinita, introducendo </a:t>
            </a:r>
            <a:r>
              <a:rPr lang="it-IT" sz="2800" dirty="0" err="1"/>
              <a:t>bias</a:t>
            </a:r>
            <a:r>
              <a:rPr lang="it-IT" sz="2800" dirty="0"/>
              <a:t> e riducendo la qualità dell’informazione ottenuta.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Le domande dirette sono particolarmente importanti quando si cercano: valutazioni imparziali, confronti equilibrati e analisi di temi complessi.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8A13919-9ADC-0F41-5121-117B5579B3E8}"/>
              </a:ext>
            </a:extLst>
          </p:cNvPr>
          <p:cNvSpPr txBox="1"/>
          <p:nvPr/>
        </p:nvSpPr>
        <p:spPr>
          <a:xfrm>
            <a:off x="0" y="306947"/>
            <a:ext cx="12192000" cy="707886"/>
          </a:xfrm>
          <a:prstGeom prst="rect">
            <a:avLst/>
          </a:prstGeom>
          <a:solidFill>
            <a:srgbClr val="52CDF6">
              <a:alpha val="63922"/>
            </a:srgb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1) Preciso – 2) Chiara e sintetica – 3) Equilibrio – 4) Contesto – 5) Esempi – 6) Analogie – 7) Verbi adatti – </a:t>
            </a:r>
          </a:p>
          <a:p>
            <a:r>
              <a:rPr lang="it-IT" sz="2000" b="1" dirty="0"/>
              <a:t>8) Formato della risposta – 9) Termini tecnici </a:t>
            </a:r>
          </a:p>
        </p:txBody>
      </p:sp>
    </p:spTree>
    <p:extLst>
      <p:ext uri="{BB962C8B-B14F-4D97-AF65-F5344CB8AC3E}">
        <p14:creationId xmlns:p14="http://schemas.microsoft.com/office/powerpoint/2010/main" val="4105489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82E68-463E-844F-1AB0-55310CEED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C8967203-75DD-C615-5E47-C29D16610569}"/>
              </a:ext>
            </a:extLst>
          </p:cNvPr>
          <p:cNvSpPr/>
          <p:nvPr/>
        </p:nvSpPr>
        <p:spPr>
          <a:xfrm>
            <a:off x="470277" y="425003"/>
            <a:ext cx="2562897" cy="189856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Preciso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5E1E456-5A58-1459-C07B-44C55930CEBE}"/>
              </a:ext>
            </a:extLst>
          </p:cNvPr>
          <p:cNvSpPr/>
          <p:nvPr/>
        </p:nvSpPr>
        <p:spPr>
          <a:xfrm>
            <a:off x="3430072" y="425003"/>
            <a:ext cx="2562897" cy="189856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Chiaro e sintetico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09FE37B-776A-07F0-8644-BA752C314B10}"/>
              </a:ext>
            </a:extLst>
          </p:cNvPr>
          <p:cNvSpPr/>
          <p:nvPr/>
        </p:nvSpPr>
        <p:spPr>
          <a:xfrm>
            <a:off x="6390065" y="425003"/>
            <a:ext cx="2562897" cy="189856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Equilibrio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8F3DC67-8CA8-AD71-D744-C911DD46580A}"/>
              </a:ext>
            </a:extLst>
          </p:cNvPr>
          <p:cNvSpPr/>
          <p:nvPr/>
        </p:nvSpPr>
        <p:spPr>
          <a:xfrm>
            <a:off x="9350057" y="425003"/>
            <a:ext cx="2562897" cy="189856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Contesto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68D1CC0-94F5-7444-C30F-0CECB1FCBEE6}"/>
              </a:ext>
            </a:extLst>
          </p:cNvPr>
          <p:cNvSpPr/>
          <p:nvPr/>
        </p:nvSpPr>
        <p:spPr>
          <a:xfrm>
            <a:off x="470278" y="2547867"/>
            <a:ext cx="2562897" cy="189856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Esempi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D6FCCCB-50DA-35DA-78C8-993A3F91238B}"/>
              </a:ext>
            </a:extLst>
          </p:cNvPr>
          <p:cNvSpPr/>
          <p:nvPr/>
        </p:nvSpPr>
        <p:spPr>
          <a:xfrm>
            <a:off x="3430072" y="2547869"/>
            <a:ext cx="2562897" cy="189856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Analogie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539C890-902D-1A46-0044-4CC9F5D5AB9E}"/>
              </a:ext>
            </a:extLst>
          </p:cNvPr>
          <p:cNvSpPr/>
          <p:nvPr/>
        </p:nvSpPr>
        <p:spPr>
          <a:xfrm>
            <a:off x="6390065" y="2547868"/>
            <a:ext cx="2562897" cy="189856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Verbi adatti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E9E28E3-FACE-FBB6-C4B6-BD2C12FC425D}"/>
              </a:ext>
            </a:extLst>
          </p:cNvPr>
          <p:cNvSpPr/>
          <p:nvPr/>
        </p:nvSpPr>
        <p:spPr>
          <a:xfrm>
            <a:off x="9350058" y="2547868"/>
            <a:ext cx="2562897" cy="189856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Formato della risposta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19C0BFC9-F404-D731-8C91-33B64D9FE3AC}"/>
              </a:ext>
            </a:extLst>
          </p:cNvPr>
          <p:cNvSpPr/>
          <p:nvPr/>
        </p:nvSpPr>
        <p:spPr>
          <a:xfrm>
            <a:off x="3430072" y="4670735"/>
            <a:ext cx="2562897" cy="189856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Termini tecnici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E17DF18-5424-1CF1-68FA-206DA196580C}"/>
              </a:ext>
            </a:extLst>
          </p:cNvPr>
          <p:cNvSpPr/>
          <p:nvPr/>
        </p:nvSpPr>
        <p:spPr>
          <a:xfrm>
            <a:off x="6411527" y="4670735"/>
            <a:ext cx="2562897" cy="189856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Obiettività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F5FBBA3-7E3C-65AC-5FF6-19A8115EEA42}"/>
              </a:ext>
            </a:extLst>
          </p:cNvPr>
          <p:cNvSpPr txBox="1"/>
          <p:nvPr/>
        </p:nvSpPr>
        <p:spPr>
          <a:xfrm>
            <a:off x="154953" y="200700"/>
            <a:ext cx="733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dirty="0">
                <a:latin typeface="Cooper Black" panose="0208090404030B020404" pitchFamily="18" charset="77"/>
              </a:rPr>
              <a:t>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B814874-D19A-51A2-45BF-2D33DBE9B10B}"/>
              </a:ext>
            </a:extLst>
          </p:cNvPr>
          <p:cNvSpPr txBox="1"/>
          <p:nvPr/>
        </p:nvSpPr>
        <p:spPr>
          <a:xfrm>
            <a:off x="3110240" y="200698"/>
            <a:ext cx="733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dirty="0">
                <a:latin typeface="Cooper Black" panose="0208090404030B020404" pitchFamily="18" charset="77"/>
              </a:rPr>
              <a:t>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515EEE6-EE3A-0FB7-52C6-05118C9C5954}"/>
              </a:ext>
            </a:extLst>
          </p:cNvPr>
          <p:cNvSpPr txBox="1"/>
          <p:nvPr/>
        </p:nvSpPr>
        <p:spPr>
          <a:xfrm>
            <a:off x="6065527" y="200698"/>
            <a:ext cx="733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dirty="0">
                <a:latin typeface="Cooper Black" panose="0208090404030B020404" pitchFamily="18" charset="77"/>
              </a:rPr>
              <a:t>3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96CB241-97B6-9519-2E0F-E0B82A59338E}"/>
              </a:ext>
            </a:extLst>
          </p:cNvPr>
          <p:cNvSpPr txBox="1"/>
          <p:nvPr/>
        </p:nvSpPr>
        <p:spPr>
          <a:xfrm>
            <a:off x="9032855" y="222699"/>
            <a:ext cx="733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dirty="0">
                <a:latin typeface="Cooper Black" panose="0208090404030B020404" pitchFamily="18" charset="77"/>
              </a:rPr>
              <a:t>4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8F42814-180E-0CA7-CF39-6D008B3EEC64}"/>
              </a:ext>
            </a:extLst>
          </p:cNvPr>
          <p:cNvSpPr txBox="1"/>
          <p:nvPr/>
        </p:nvSpPr>
        <p:spPr>
          <a:xfrm>
            <a:off x="154953" y="2323564"/>
            <a:ext cx="733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dirty="0">
                <a:latin typeface="Cooper Black" panose="0208090404030B020404" pitchFamily="18" charset="77"/>
              </a:rPr>
              <a:t>5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27B5CF3-2F4B-1751-1716-0DC238B1DBCD}"/>
              </a:ext>
            </a:extLst>
          </p:cNvPr>
          <p:cNvSpPr txBox="1"/>
          <p:nvPr/>
        </p:nvSpPr>
        <p:spPr>
          <a:xfrm>
            <a:off x="3123110" y="2323563"/>
            <a:ext cx="733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dirty="0">
                <a:latin typeface="Cooper Black" panose="0208090404030B020404" pitchFamily="18" charset="77"/>
              </a:rPr>
              <a:t>6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1199BB2-8FEC-5BBD-CA55-F3956AE10B10}"/>
              </a:ext>
            </a:extLst>
          </p:cNvPr>
          <p:cNvSpPr txBox="1"/>
          <p:nvPr/>
        </p:nvSpPr>
        <p:spPr>
          <a:xfrm>
            <a:off x="6091267" y="2323562"/>
            <a:ext cx="733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dirty="0">
                <a:latin typeface="Cooper Black" panose="0208090404030B020404" pitchFamily="18" charset="77"/>
              </a:rPr>
              <a:t>7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E7AB38F-2764-C95B-5D2D-4E0829C99301}"/>
              </a:ext>
            </a:extLst>
          </p:cNvPr>
          <p:cNvSpPr txBox="1"/>
          <p:nvPr/>
        </p:nvSpPr>
        <p:spPr>
          <a:xfrm>
            <a:off x="9059424" y="2323561"/>
            <a:ext cx="733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dirty="0">
                <a:latin typeface="Cooper Black" panose="0208090404030B020404" pitchFamily="18" charset="77"/>
              </a:rPr>
              <a:t>8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CF381EAD-B669-0E7B-3B71-698DAD00E281}"/>
              </a:ext>
            </a:extLst>
          </p:cNvPr>
          <p:cNvSpPr txBox="1"/>
          <p:nvPr/>
        </p:nvSpPr>
        <p:spPr>
          <a:xfrm>
            <a:off x="3109169" y="4604352"/>
            <a:ext cx="733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dirty="0">
                <a:latin typeface="Cooper Black" panose="0208090404030B020404" pitchFamily="18" charset="77"/>
              </a:rPr>
              <a:t>9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D1017AEF-DC0B-5307-A2CB-389B82943394}"/>
              </a:ext>
            </a:extLst>
          </p:cNvPr>
          <p:cNvSpPr txBox="1"/>
          <p:nvPr/>
        </p:nvSpPr>
        <p:spPr>
          <a:xfrm>
            <a:off x="6065527" y="4585189"/>
            <a:ext cx="11419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dirty="0">
                <a:latin typeface="Cooper Black" panose="0208090404030B020404" pitchFamily="18" charset="77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84710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2647</Words>
  <Application>Microsoft Macintosh PowerPoint</Application>
  <PresentationFormat>Widescreen</PresentationFormat>
  <Paragraphs>224</Paragraphs>
  <Slides>33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Cooper Black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Stefanelli</dc:creator>
  <cp:lastModifiedBy>Marta Stefanelli</cp:lastModifiedBy>
  <cp:revision>136</cp:revision>
  <dcterms:created xsi:type="dcterms:W3CDTF">2026-01-08T10:26:09Z</dcterms:created>
  <dcterms:modified xsi:type="dcterms:W3CDTF">2026-01-14T10:54:25Z</dcterms:modified>
</cp:coreProperties>
</file>